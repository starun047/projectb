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E3871A-1E7F-48C0-A9A2-36BB1760EB46}" v="580" dt="2025-11-09T11:38:27.6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C49E04-F5EE-45C4-A8A8-21BA7B2268E6}"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FAEA40E3-49F8-4F26-A025-CAAF20BA3649}">
      <dgm:prSet/>
      <dgm:spPr/>
      <dgm:t>
        <a:bodyPr/>
        <a:lstStyle/>
        <a:p>
          <a:r>
            <a:rPr lang="en-US"/>
            <a:t>Manual observation by farmers or agricultural experts</a:t>
          </a:r>
        </a:p>
      </dgm:t>
    </dgm:pt>
    <dgm:pt modelId="{C37DF848-92C6-4F03-954F-24347B0082DD}" type="parTrans" cxnId="{F33BA21C-6673-4D06-99A7-BC18619E90EA}">
      <dgm:prSet/>
      <dgm:spPr/>
      <dgm:t>
        <a:bodyPr/>
        <a:lstStyle/>
        <a:p>
          <a:endParaRPr lang="en-US"/>
        </a:p>
      </dgm:t>
    </dgm:pt>
    <dgm:pt modelId="{AFE0ECAC-527A-4E86-AE60-50548D06A2BE}" type="sibTrans" cxnId="{F33BA21C-6673-4D06-99A7-BC18619E90EA}">
      <dgm:prSet/>
      <dgm:spPr/>
      <dgm:t>
        <a:bodyPr/>
        <a:lstStyle/>
        <a:p>
          <a:endParaRPr lang="en-US"/>
        </a:p>
      </dgm:t>
    </dgm:pt>
    <dgm:pt modelId="{125B714A-301A-4A13-937E-AF2AA7673DC4}">
      <dgm:prSet/>
      <dgm:spPr/>
      <dgm:t>
        <a:bodyPr/>
        <a:lstStyle/>
        <a:p>
          <a:r>
            <a:rPr lang="en-US"/>
            <a:t>Basic mobile apps or offline image-based tools</a:t>
          </a:r>
        </a:p>
      </dgm:t>
    </dgm:pt>
    <dgm:pt modelId="{926561E3-A7AB-4E3D-9502-448669764EE8}" type="parTrans" cxnId="{3C496435-697E-49C7-AD35-52AAFF1790C2}">
      <dgm:prSet/>
      <dgm:spPr/>
      <dgm:t>
        <a:bodyPr/>
        <a:lstStyle/>
        <a:p>
          <a:endParaRPr lang="en-US"/>
        </a:p>
      </dgm:t>
    </dgm:pt>
    <dgm:pt modelId="{A65CF65A-36D6-4FC3-BF06-D7D36B5432C0}" type="sibTrans" cxnId="{3C496435-697E-49C7-AD35-52AAFF1790C2}">
      <dgm:prSet/>
      <dgm:spPr/>
      <dgm:t>
        <a:bodyPr/>
        <a:lstStyle/>
        <a:p>
          <a:endParaRPr lang="en-US"/>
        </a:p>
      </dgm:t>
    </dgm:pt>
    <dgm:pt modelId="{3A88855A-F699-4D7C-8BC4-1CFF88F3265C}">
      <dgm:prSet/>
      <dgm:spPr/>
      <dgm:t>
        <a:bodyPr/>
        <a:lstStyle/>
        <a:p>
          <a:r>
            <a:rPr lang="en-US"/>
            <a:t>Local storage or device-based systems</a:t>
          </a:r>
        </a:p>
      </dgm:t>
    </dgm:pt>
    <dgm:pt modelId="{941E6073-852D-4502-B0F3-E2A237345AF6}" type="parTrans" cxnId="{8562FBAC-C1D5-4E34-B443-5D463E3942F3}">
      <dgm:prSet/>
      <dgm:spPr/>
      <dgm:t>
        <a:bodyPr/>
        <a:lstStyle/>
        <a:p>
          <a:endParaRPr lang="en-US"/>
        </a:p>
      </dgm:t>
    </dgm:pt>
    <dgm:pt modelId="{DD712F59-9224-46DF-9207-1EC015CD665C}" type="sibTrans" cxnId="{8562FBAC-C1D5-4E34-B443-5D463E3942F3}">
      <dgm:prSet/>
      <dgm:spPr/>
      <dgm:t>
        <a:bodyPr/>
        <a:lstStyle/>
        <a:p>
          <a:endParaRPr lang="en-US"/>
        </a:p>
      </dgm:t>
    </dgm:pt>
    <dgm:pt modelId="{827A2B45-49B2-451B-8E27-D85EB76BCEE9}">
      <dgm:prSet/>
      <dgm:spPr/>
      <dgm:t>
        <a:bodyPr/>
        <a:lstStyle/>
        <a:p>
          <a:r>
            <a:rPr lang="en-US"/>
            <a:t>Requires on-site experts for diagnosis</a:t>
          </a:r>
        </a:p>
      </dgm:t>
    </dgm:pt>
    <dgm:pt modelId="{08AAB7BE-DC81-4CB6-B769-5632746056A3}" type="parTrans" cxnId="{45EA9C1C-62B7-4347-8BF6-B103BB295DE6}">
      <dgm:prSet/>
      <dgm:spPr/>
      <dgm:t>
        <a:bodyPr/>
        <a:lstStyle/>
        <a:p>
          <a:endParaRPr lang="en-US"/>
        </a:p>
      </dgm:t>
    </dgm:pt>
    <dgm:pt modelId="{B1335159-9A51-44AC-BD84-7A2799596D75}" type="sibTrans" cxnId="{45EA9C1C-62B7-4347-8BF6-B103BB295DE6}">
      <dgm:prSet/>
      <dgm:spPr/>
      <dgm:t>
        <a:bodyPr/>
        <a:lstStyle/>
        <a:p>
          <a:endParaRPr lang="en-US"/>
        </a:p>
      </dgm:t>
    </dgm:pt>
    <dgm:pt modelId="{C7A935BD-E0C1-4E60-8090-C679B02E7BDD}">
      <dgm:prSet/>
      <dgm:spPr/>
      <dgm:t>
        <a:bodyPr/>
        <a:lstStyle/>
        <a:p>
          <a:r>
            <a:rPr lang="en-US"/>
            <a:t>Mostly manual or semi-automated</a:t>
          </a:r>
        </a:p>
      </dgm:t>
    </dgm:pt>
    <dgm:pt modelId="{077294F7-1713-41A0-906D-63A05DBC24F9}" type="parTrans" cxnId="{0A4A94AD-01C1-4E6B-B58A-D5CD4F7CBEAD}">
      <dgm:prSet/>
      <dgm:spPr/>
      <dgm:t>
        <a:bodyPr/>
        <a:lstStyle/>
        <a:p>
          <a:endParaRPr lang="en-US"/>
        </a:p>
      </dgm:t>
    </dgm:pt>
    <dgm:pt modelId="{E6CA2A9F-BAE4-4BBD-BD6F-D08F5B93DBE8}" type="sibTrans" cxnId="{0A4A94AD-01C1-4E6B-B58A-D5CD4F7CBEAD}">
      <dgm:prSet/>
      <dgm:spPr/>
      <dgm:t>
        <a:bodyPr/>
        <a:lstStyle/>
        <a:p>
          <a:endParaRPr lang="en-US"/>
        </a:p>
      </dgm:t>
    </dgm:pt>
    <dgm:pt modelId="{D1427A01-EDDF-48FF-B34F-92A5D8E1B6C4}">
      <dgm:prSet/>
      <dgm:spPr/>
      <dgm:t>
        <a:bodyPr/>
        <a:lstStyle/>
        <a:p>
          <a:r>
            <a:rPr lang="en-US"/>
            <a:t>Rarely included in existing systems</a:t>
          </a:r>
        </a:p>
      </dgm:t>
    </dgm:pt>
    <dgm:pt modelId="{39329239-5C3E-452D-9822-0157460531AA}" type="parTrans" cxnId="{9327A2A0-5BCF-46E7-A0DC-1D00D0F9F752}">
      <dgm:prSet/>
      <dgm:spPr/>
      <dgm:t>
        <a:bodyPr/>
        <a:lstStyle/>
        <a:p>
          <a:endParaRPr lang="en-US"/>
        </a:p>
      </dgm:t>
    </dgm:pt>
    <dgm:pt modelId="{792EAE9F-778E-4498-A526-565828DFB960}" type="sibTrans" cxnId="{9327A2A0-5BCF-46E7-A0DC-1D00D0F9F752}">
      <dgm:prSet/>
      <dgm:spPr/>
      <dgm:t>
        <a:bodyPr/>
        <a:lstStyle/>
        <a:p>
          <a:endParaRPr lang="en-US"/>
        </a:p>
      </dgm:t>
    </dgm:pt>
    <dgm:pt modelId="{2B324617-67BC-4C5F-BF17-A1EF56152AC2}" type="pres">
      <dgm:prSet presAssocID="{0EC49E04-F5EE-45C4-A8A8-21BA7B2268E6}" presName="diagram" presStyleCnt="0">
        <dgm:presLayoutVars>
          <dgm:dir/>
          <dgm:resizeHandles val="exact"/>
        </dgm:presLayoutVars>
      </dgm:prSet>
      <dgm:spPr/>
    </dgm:pt>
    <dgm:pt modelId="{17234403-00BE-422C-9498-5C10DFC1697A}" type="pres">
      <dgm:prSet presAssocID="{FAEA40E3-49F8-4F26-A025-CAAF20BA3649}" presName="node" presStyleLbl="node1" presStyleIdx="0" presStyleCnt="6">
        <dgm:presLayoutVars>
          <dgm:bulletEnabled val="1"/>
        </dgm:presLayoutVars>
      </dgm:prSet>
      <dgm:spPr/>
    </dgm:pt>
    <dgm:pt modelId="{5EA327D7-8F5C-499C-ACC8-407111A7527F}" type="pres">
      <dgm:prSet presAssocID="{AFE0ECAC-527A-4E86-AE60-50548D06A2BE}" presName="sibTrans" presStyleCnt="0"/>
      <dgm:spPr/>
    </dgm:pt>
    <dgm:pt modelId="{83DEB1F5-5252-4FF5-BA58-6E8DFA0CB072}" type="pres">
      <dgm:prSet presAssocID="{125B714A-301A-4A13-937E-AF2AA7673DC4}" presName="node" presStyleLbl="node1" presStyleIdx="1" presStyleCnt="6">
        <dgm:presLayoutVars>
          <dgm:bulletEnabled val="1"/>
        </dgm:presLayoutVars>
      </dgm:prSet>
      <dgm:spPr/>
    </dgm:pt>
    <dgm:pt modelId="{2B3390AF-8EC8-4EF6-B3CF-70784CEC3343}" type="pres">
      <dgm:prSet presAssocID="{A65CF65A-36D6-4FC3-BF06-D7D36B5432C0}" presName="sibTrans" presStyleCnt="0"/>
      <dgm:spPr/>
    </dgm:pt>
    <dgm:pt modelId="{93945A70-E0D1-444D-B083-B35FDE64EB1D}" type="pres">
      <dgm:prSet presAssocID="{3A88855A-F699-4D7C-8BC4-1CFF88F3265C}" presName="node" presStyleLbl="node1" presStyleIdx="2" presStyleCnt="6">
        <dgm:presLayoutVars>
          <dgm:bulletEnabled val="1"/>
        </dgm:presLayoutVars>
      </dgm:prSet>
      <dgm:spPr/>
    </dgm:pt>
    <dgm:pt modelId="{CDBD90C7-1F1C-4C9E-879A-7891D3C0EE49}" type="pres">
      <dgm:prSet presAssocID="{DD712F59-9224-46DF-9207-1EC015CD665C}" presName="sibTrans" presStyleCnt="0"/>
      <dgm:spPr/>
    </dgm:pt>
    <dgm:pt modelId="{17AE5B55-910C-498F-B6FC-38DF1AACE0AD}" type="pres">
      <dgm:prSet presAssocID="{827A2B45-49B2-451B-8E27-D85EB76BCEE9}" presName="node" presStyleLbl="node1" presStyleIdx="3" presStyleCnt="6">
        <dgm:presLayoutVars>
          <dgm:bulletEnabled val="1"/>
        </dgm:presLayoutVars>
      </dgm:prSet>
      <dgm:spPr/>
    </dgm:pt>
    <dgm:pt modelId="{8381AAB7-BC35-428B-AAD1-8B62F74F0FDA}" type="pres">
      <dgm:prSet presAssocID="{B1335159-9A51-44AC-BD84-7A2799596D75}" presName="sibTrans" presStyleCnt="0"/>
      <dgm:spPr/>
    </dgm:pt>
    <dgm:pt modelId="{6079503A-077B-456D-A97F-0EAF3AE7A4D8}" type="pres">
      <dgm:prSet presAssocID="{C7A935BD-E0C1-4E60-8090-C679B02E7BDD}" presName="node" presStyleLbl="node1" presStyleIdx="4" presStyleCnt="6">
        <dgm:presLayoutVars>
          <dgm:bulletEnabled val="1"/>
        </dgm:presLayoutVars>
      </dgm:prSet>
      <dgm:spPr/>
    </dgm:pt>
    <dgm:pt modelId="{0DC47F64-D885-46F1-A3FE-AF9CDC46A715}" type="pres">
      <dgm:prSet presAssocID="{E6CA2A9F-BAE4-4BBD-BD6F-D08F5B93DBE8}" presName="sibTrans" presStyleCnt="0"/>
      <dgm:spPr/>
    </dgm:pt>
    <dgm:pt modelId="{52157BA6-3C57-4D8D-BBEF-F8DC9ABA625C}" type="pres">
      <dgm:prSet presAssocID="{D1427A01-EDDF-48FF-B34F-92A5D8E1B6C4}" presName="node" presStyleLbl="node1" presStyleIdx="5" presStyleCnt="6">
        <dgm:presLayoutVars>
          <dgm:bulletEnabled val="1"/>
        </dgm:presLayoutVars>
      </dgm:prSet>
      <dgm:spPr/>
    </dgm:pt>
  </dgm:ptLst>
  <dgm:cxnLst>
    <dgm:cxn modelId="{74129E1B-8560-48F6-8C29-8CD031ADB2E2}" type="presOf" srcId="{D1427A01-EDDF-48FF-B34F-92A5D8E1B6C4}" destId="{52157BA6-3C57-4D8D-BBEF-F8DC9ABA625C}" srcOrd="0" destOrd="0" presId="urn:microsoft.com/office/officeart/2005/8/layout/default"/>
    <dgm:cxn modelId="{45EA9C1C-62B7-4347-8BF6-B103BB295DE6}" srcId="{0EC49E04-F5EE-45C4-A8A8-21BA7B2268E6}" destId="{827A2B45-49B2-451B-8E27-D85EB76BCEE9}" srcOrd="3" destOrd="0" parTransId="{08AAB7BE-DC81-4CB6-B769-5632746056A3}" sibTransId="{B1335159-9A51-44AC-BD84-7A2799596D75}"/>
    <dgm:cxn modelId="{F33BA21C-6673-4D06-99A7-BC18619E90EA}" srcId="{0EC49E04-F5EE-45C4-A8A8-21BA7B2268E6}" destId="{FAEA40E3-49F8-4F26-A025-CAAF20BA3649}" srcOrd="0" destOrd="0" parTransId="{C37DF848-92C6-4F03-954F-24347B0082DD}" sibTransId="{AFE0ECAC-527A-4E86-AE60-50548D06A2BE}"/>
    <dgm:cxn modelId="{3C496435-697E-49C7-AD35-52AAFF1790C2}" srcId="{0EC49E04-F5EE-45C4-A8A8-21BA7B2268E6}" destId="{125B714A-301A-4A13-937E-AF2AA7673DC4}" srcOrd="1" destOrd="0" parTransId="{926561E3-A7AB-4E3D-9502-448669764EE8}" sibTransId="{A65CF65A-36D6-4FC3-BF06-D7D36B5432C0}"/>
    <dgm:cxn modelId="{D17FB738-4BE0-4E98-AE9F-F0D41F09D19D}" type="presOf" srcId="{FAEA40E3-49F8-4F26-A025-CAAF20BA3649}" destId="{17234403-00BE-422C-9498-5C10DFC1697A}" srcOrd="0" destOrd="0" presId="urn:microsoft.com/office/officeart/2005/8/layout/default"/>
    <dgm:cxn modelId="{3B510F66-C91A-4D7B-A7A4-968E2FAD8838}" type="presOf" srcId="{827A2B45-49B2-451B-8E27-D85EB76BCEE9}" destId="{17AE5B55-910C-498F-B6FC-38DF1AACE0AD}" srcOrd="0" destOrd="0" presId="urn:microsoft.com/office/officeart/2005/8/layout/default"/>
    <dgm:cxn modelId="{55547989-2E49-42C7-B74B-D8D3AB8C1F36}" type="presOf" srcId="{0EC49E04-F5EE-45C4-A8A8-21BA7B2268E6}" destId="{2B324617-67BC-4C5F-BF17-A1EF56152AC2}" srcOrd="0" destOrd="0" presId="urn:microsoft.com/office/officeart/2005/8/layout/default"/>
    <dgm:cxn modelId="{66EE418B-540C-4318-A9B6-9280C405059E}" type="presOf" srcId="{125B714A-301A-4A13-937E-AF2AA7673DC4}" destId="{83DEB1F5-5252-4FF5-BA58-6E8DFA0CB072}" srcOrd="0" destOrd="0" presId="urn:microsoft.com/office/officeart/2005/8/layout/default"/>
    <dgm:cxn modelId="{9327A2A0-5BCF-46E7-A0DC-1D00D0F9F752}" srcId="{0EC49E04-F5EE-45C4-A8A8-21BA7B2268E6}" destId="{D1427A01-EDDF-48FF-B34F-92A5D8E1B6C4}" srcOrd="5" destOrd="0" parTransId="{39329239-5C3E-452D-9822-0157460531AA}" sibTransId="{792EAE9F-778E-4498-A526-565828DFB960}"/>
    <dgm:cxn modelId="{10EDEEA6-4E92-4AA9-A371-5C42E9801415}" type="presOf" srcId="{C7A935BD-E0C1-4E60-8090-C679B02E7BDD}" destId="{6079503A-077B-456D-A97F-0EAF3AE7A4D8}" srcOrd="0" destOrd="0" presId="urn:microsoft.com/office/officeart/2005/8/layout/default"/>
    <dgm:cxn modelId="{8562FBAC-C1D5-4E34-B443-5D463E3942F3}" srcId="{0EC49E04-F5EE-45C4-A8A8-21BA7B2268E6}" destId="{3A88855A-F699-4D7C-8BC4-1CFF88F3265C}" srcOrd="2" destOrd="0" parTransId="{941E6073-852D-4502-B0F3-E2A237345AF6}" sibTransId="{DD712F59-9224-46DF-9207-1EC015CD665C}"/>
    <dgm:cxn modelId="{0A4A94AD-01C1-4E6B-B58A-D5CD4F7CBEAD}" srcId="{0EC49E04-F5EE-45C4-A8A8-21BA7B2268E6}" destId="{C7A935BD-E0C1-4E60-8090-C679B02E7BDD}" srcOrd="4" destOrd="0" parTransId="{077294F7-1713-41A0-906D-63A05DBC24F9}" sibTransId="{E6CA2A9F-BAE4-4BBD-BD6F-D08F5B93DBE8}"/>
    <dgm:cxn modelId="{C66BACB9-FF9D-4D4D-9FD9-106B1C33F57C}" type="presOf" srcId="{3A88855A-F699-4D7C-8BC4-1CFF88F3265C}" destId="{93945A70-E0D1-444D-B083-B35FDE64EB1D}" srcOrd="0" destOrd="0" presId="urn:microsoft.com/office/officeart/2005/8/layout/default"/>
    <dgm:cxn modelId="{CC268BA8-0769-4322-8C28-740F1AB36182}" type="presParOf" srcId="{2B324617-67BC-4C5F-BF17-A1EF56152AC2}" destId="{17234403-00BE-422C-9498-5C10DFC1697A}" srcOrd="0" destOrd="0" presId="urn:microsoft.com/office/officeart/2005/8/layout/default"/>
    <dgm:cxn modelId="{C00E6CED-078F-43F7-A806-6D9585DA5369}" type="presParOf" srcId="{2B324617-67BC-4C5F-BF17-A1EF56152AC2}" destId="{5EA327D7-8F5C-499C-ACC8-407111A7527F}" srcOrd="1" destOrd="0" presId="urn:microsoft.com/office/officeart/2005/8/layout/default"/>
    <dgm:cxn modelId="{564EDFC6-2944-4D22-BC84-DBDE7411BEEF}" type="presParOf" srcId="{2B324617-67BC-4C5F-BF17-A1EF56152AC2}" destId="{83DEB1F5-5252-4FF5-BA58-6E8DFA0CB072}" srcOrd="2" destOrd="0" presId="urn:microsoft.com/office/officeart/2005/8/layout/default"/>
    <dgm:cxn modelId="{9D69D1F3-D62D-434A-B960-C052F47A336F}" type="presParOf" srcId="{2B324617-67BC-4C5F-BF17-A1EF56152AC2}" destId="{2B3390AF-8EC8-4EF6-B3CF-70784CEC3343}" srcOrd="3" destOrd="0" presId="urn:microsoft.com/office/officeart/2005/8/layout/default"/>
    <dgm:cxn modelId="{19D9AE13-9550-41B3-BA91-855A3A2FD56F}" type="presParOf" srcId="{2B324617-67BC-4C5F-BF17-A1EF56152AC2}" destId="{93945A70-E0D1-444D-B083-B35FDE64EB1D}" srcOrd="4" destOrd="0" presId="urn:microsoft.com/office/officeart/2005/8/layout/default"/>
    <dgm:cxn modelId="{357024A4-27D6-4682-96B3-631DB5EB1266}" type="presParOf" srcId="{2B324617-67BC-4C5F-BF17-A1EF56152AC2}" destId="{CDBD90C7-1F1C-4C9E-879A-7891D3C0EE49}" srcOrd="5" destOrd="0" presId="urn:microsoft.com/office/officeart/2005/8/layout/default"/>
    <dgm:cxn modelId="{5AFB1702-CB75-4212-9E85-2B7E9A68AF1A}" type="presParOf" srcId="{2B324617-67BC-4C5F-BF17-A1EF56152AC2}" destId="{17AE5B55-910C-498F-B6FC-38DF1AACE0AD}" srcOrd="6" destOrd="0" presId="urn:microsoft.com/office/officeart/2005/8/layout/default"/>
    <dgm:cxn modelId="{B020607C-1CAC-458B-819F-19344B121D2B}" type="presParOf" srcId="{2B324617-67BC-4C5F-BF17-A1EF56152AC2}" destId="{8381AAB7-BC35-428B-AAD1-8B62F74F0FDA}" srcOrd="7" destOrd="0" presId="urn:microsoft.com/office/officeart/2005/8/layout/default"/>
    <dgm:cxn modelId="{33E533F4-4777-4F6D-A9FE-79E79066952C}" type="presParOf" srcId="{2B324617-67BC-4C5F-BF17-A1EF56152AC2}" destId="{6079503A-077B-456D-A97F-0EAF3AE7A4D8}" srcOrd="8" destOrd="0" presId="urn:microsoft.com/office/officeart/2005/8/layout/default"/>
    <dgm:cxn modelId="{852F4AB8-9148-44C8-85D3-3BE6779DC46A}" type="presParOf" srcId="{2B324617-67BC-4C5F-BF17-A1EF56152AC2}" destId="{0DC47F64-D885-46F1-A3FE-AF9CDC46A715}" srcOrd="9" destOrd="0" presId="urn:microsoft.com/office/officeart/2005/8/layout/default"/>
    <dgm:cxn modelId="{E5C4BCFE-7758-4051-AF7D-523E9C00C4E5}" type="presParOf" srcId="{2B324617-67BC-4C5F-BF17-A1EF56152AC2}" destId="{52157BA6-3C57-4D8D-BBEF-F8DC9ABA625C}"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E1CF10-200F-491D-A0DB-31CB0022242C}"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ADBDCD2-B766-46F3-BB66-3526AE75502C}">
      <dgm:prSet/>
      <dgm:spPr/>
      <dgm:t>
        <a:bodyPr/>
        <a:lstStyle/>
        <a:p>
          <a:pPr>
            <a:lnSpc>
              <a:spcPct val="100000"/>
            </a:lnSpc>
          </a:pPr>
          <a:r>
            <a:rPr lang="en-US"/>
            <a:t>Time-consuming, error-prone, and dependent on human expertise</a:t>
          </a:r>
        </a:p>
      </dgm:t>
    </dgm:pt>
    <dgm:pt modelId="{8D215970-525D-48C6-BDFE-622585F207EB}" type="parTrans" cxnId="{9224AF18-5031-4AF2-8090-1FA600121F73}">
      <dgm:prSet/>
      <dgm:spPr/>
      <dgm:t>
        <a:bodyPr/>
        <a:lstStyle/>
        <a:p>
          <a:endParaRPr lang="en-US"/>
        </a:p>
      </dgm:t>
    </dgm:pt>
    <dgm:pt modelId="{6C9A2DC3-47FC-4EC0-863E-7BA6EDB6E7F6}" type="sibTrans" cxnId="{9224AF18-5031-4AF2-8090-1FA600121F73}">
      <dgm:prSet/>
      <dgm:spPr/>
      <dgm:t>
        <a:bodyPr/>
        <a:lstStyle/>
        <a:p>
          <a:endParaRPr lang="en-US"/>
        </a:p>
      </dgm:t>
    </dgm:pt>
    <dgm:pt modelId="{B8D95A8A-78A4-449D-B1A5-A55068CEC60F}">
      <dgm:prSet/>
      <dgm:spPr/>
      <dgm:t>
        <a:bodyPr/>
        <a:lstStyle/>
        <a:p>
          <a:pPr>
            <a:lnSpc>
              <a:spcPct val="100000"/>
            </a:lnSpc>
          </a:pPr>
          <a:r>
            <a:rPr lang="en-US"/>
            <a:t>Limited accuracy, not scalable, lack of real-time processing</a:t>
          </a:r>
        </a:p>
      </dgm:t>
    </dgm:pt>
    <dgm:pt modelId="{11C50B8F-B065-4572-B5B0-DC38C30E304D}" type="parTrans" cxnId="{4F9B6B04-4474-4438-907B-2FE22172A732}">
      <dgm:prSet/>
      <dgm:spPr/>
      <dgm:t>
        <a:bodyPr/>
        <a:lstStyle/>
        <a:p>
          <a:endParaRPr lang="en-US"/>
        </a:p>
      </dgm:t>
    </dgm:pt>
    <dgm:pt modelId="{D8CE0AF0-6A51-4211-8732-471B4CA707C9}" type="sibTrans" cxnId="{4F9B6B04-4474-4438-907B-2FE22172A732}">
      <dgm:prSet/>
      <dgm:spPr/>
      <dgm:t>
        <a:bodyPr/>
        <a:lstStyle/>
        <a:p>
          <a:endParaRPr lang="en-US"/>
        </a:p>
      </dgm:t>
    </dgm:pt>
    <dgm:pt modelId="{41D9F7F2-8A61-426C-BD15-0844FF0B1980}">
      <dgm:prSet/>
      <dgm:spPr/>
      <dgm:t>
        <a:bodyPr/>
        <a:lstStyle/>
        <a:p>
          <a:pPr>
            <a:lnSpc>
              <a:spcPct val="100000"/>
            </a:lnSpc>
          </a:pPr>
          <a:r>
            <a:rPr lang="en-US"/>
            <a:t>Data loss risk, no centralized storage or data sharing</a:t>
          </a:r>
        </a:p>
      </dgm:t>
    </dgm:pt>
    <dgm:pt modelId="{E330318A-AC46-4024-804E-8EC3C2B6EF0E}" type="parTrans" cxnId="{196EF51B-F0F2-46EB-B78E-F885BA32678D}">
      <dgm:prSet/>
      <dgm:spPr/>
      <dgm:t>
        <a:bodyPr/>
        <a:lstStyle/>
        <a:p>
          <a:endParaRPr lang="en-US"/>
        </a:p>
      </dgm:t>
    </dgm:pt>
    <dgm:pt modelId="{5545F511-5916-4C4E-AF66-31EFDA05DDB4}" type="sibTrans" cxnId="{196EF51B-F0F2-46EB-B78E-F885BA32678D}">
      <dgm:prSet/>
      <dgm:spPr/>
      <dgm:t>
        <a:bodyPr/>
        <a:lstStyle/>
        <a:p>
          <a:endParaRPr lang="en-US"/>
        </a:p>
      </dgm:t>
    </dgm:pt>
    <dgm:pt modelId="{97D039D8-9E34-452B-87F9-5912A0DF3E42}">
      <dgm:prSet/>
      <dgm:spPr/>
      <dgm:t>
        <a:bodyPr/>
        <a:lstStyle/>
        <a:p>
          <a:pPr>
            <a:lnSpc>
              <a:spcPct val="100000"/>
            </a:lnSpc>
          </a:pPr>
          <a:r>
            <a:rPr lang="en-US"/>
            <a:t>Difficult to access in rural or remote areas</a:t>
          </a:r>
        </a:p>
      </dgm:t>
    </dgm:pt>
    <dgm:pt modelId="{6B60D020-FEDA-4957-9ED8-06BD84B8F955}" type="parTrans" cxnId="{89D6994F-45FD-4B5D-9F07-99ADAE1084A6}">
      <dgm:prSet/>
      <dgm:spPr/>
      <dgm:t>
        <a:bodyPr/>
        <a:lstStyle/>
        <a:p>
          <a:endParaRPr lang="en-US"/>
        </a:p>
      </dgm:t>
    </dgm:pt>
    <dgm:pt modelId="{FBDB0E34-2639-4BE3-B09E-2351173BB132}" type="sibTrans" cxnId="{89D6994F-45FD-4B5D-9F07-99ADAE1084A6}">
      <dgm:prSet/>
      <dgm:spPr/>
      <dgm:t>
        <a:bodyPr/>
        <a:lstStyle/>
        <a:p>
          <a:endParaRPr lang="en-US"/>
        </a:p>
      </dgm:t>
    </dgm:pt>
    <dgm:pt modelId="{A0552D41-ED19-42A2-86EE-FB3B160758AB}">
      <dgm:prSet/>
      <dgm:spPr/>
      <dgm:t>
        <a:bodyPr/>
        <a:lstStyle/>
        <a:p>
          <a:pPr>
            <a:lnSpc>
              <a:spcPct val="100000"/>
            </a:lnSpc>
          </a:pPr>
          <a:r>
            <a:rPr lang="en-US"/>
            <a:t>Lacks full automation and intelligent decision support</a:t>
          </a:r>
        </a:p>
      </dgm:t>
    </dgm:pt>
    <dgm:pt modelId="{6870D0C3-F400-49EA-9C5F-0E3C30164ABF}" type="parTrans" cxnId="{C467EBB8-7E84-40B6-8645-D3573301CFB2}">
      <dgm:prSet/>
      <dgm:spPr/>
      <dgm:t>
        <a:bodyPr/>
        <a:lstStyle/>
        <a:p>
          <a:endParaRPr lang="en-US"/>
        </a:p>
      </dgm:t>
    </dgm:pt>
    <dgm:pt modelId="{964016FB-7A4C-4ECA-AB25-AF06B61CC42D}" type="sibTrans" cxnId="{C467EBB8-7E84-40B6-8645-D3573301CFB2}">
      <dgm:prSet/>
      <dgm:spPr/>
      <dgm:t>
        <a:bodyPr/>
        <a:lstStyle/>
        <a:p>
          <a:endParaRPr lang="en-US"/>
        </a:p>
      </dgm:t>
    </dgm:pt>
    <dgm:pt modelId="{E2C73C25-BE67-4D2A-A2F2-0B3E1BD9CF66}">
      <dgm:prSet/>
      <dgm:spPr/>
      <dgm:t>
        <a:bodyPr/>
        <a:lstStyle/>
        <a:p>
          <a:pPr>
            <a:lnSpc>
              <a:spcPct val="100000"/>
            </a:lnSpc>
          </a:pPr>
          <a:r>
            <a:rPr lang="en-US"/>
            <a:t>Farmers cannot estimate future yield accurately</a:t>
          </a:r>
        </a:p>
      </dgm:t>
    </dgm:pt>
    <dgm:pt modelId="{AC536277-B86E-40CF-9BEB-F3E944246345}" type="parTrans" cxnId="{7B829C50-4E22-467D-A9FC-78285A5EBA41}">
      <dgm:prSet/>
      <dgm:spPr/>
      <dgm:t>
        <a:bodyPr/>
        <a:lstStyle/>
        <a:p>
          <a:endParaRPr lang="en-US"/>
        </a:p>
      </dgm:t>
    </dgm:pt>
    <dgm:pt modelId="{D4CA7E20-5750-4215-AA79-A059E960CD9F}" type="sibTrans" cxnId="{7B829C50-4E22-467D-A9FC-78285A5EBA41}">
      <dgm:prSet/>
      <dgm:spPr/>
      <dgm:t>
        <a:bodyPr/>
        <a:lstStyle/>
        <a:p>
          <a:endParaRPr lang="en-US"/>
        </a:p>
      </dgm:t>
    </dgm:pt>
    <dgm:pt modelId="{183EDE2B-529D-42CE-B79B-04DF9A9812A8}" type="pres">
      <dgm:prSet presAssocID="{47E1CF10-200F-491D-A0DB-31CB0022242C}" presName="root" presStyleCnt="0">
        <dgm:presLayoutVars>
          <dgm:dir/>
          <dgm:resizeHandles val="exact"/>
        </dgm:presLayoutVars>
      </dgm:prSet>
      <dgm:spPr/>
    </dgm:pt>
    <dgm:pt modelId="{405D7F3E-737A-4EF2-A61C-F8385EA5ACB9}" type="pres">
      <dgm:prSet presAssocID="{0ADBDCD2-B766-46F3-BB66-3526AE75502C}" presName="compNode" presStyleCnt="0"/>
      <dgm:spPr/>
    </dgm:pt>
    <dgm:pt modelId="{BACA1D02-4481-40AF-9EBD-F406E6C98E77}" type="pres">
      <dgm:prSet presAssocID="{0ADBDCD2-B766-46F3-BB66-3526AE75502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raduation Cap"/>
        </a:ext>
      </dgm:extLst>
    </dgm:pt>
    <dgm:pt modelId="{272A79DF-0171-4E82-AEFD-4104CAC66959}" type="pres">
      <dgm:prSet presAssocID="{0ADBDCD2-B766-46F3-BB66-3526AE75502C}" presName="spaceRect" presStyleCnt="0"/>
      <dgm:spPr/>
    </dgm:pt>
    <dgm:pt modelId="{899C72FE-D2B9-4F5F-9B3C-AB90A6E3F28E}" type="pres">
      <dgm:prSet presAssocID="{0ADBDCD2-B766-46F3-BB66-3526AE75502C}" presName="textRect" presStyleLbl="revTx" presStyleIdx="0" presStyleCnt="6">
        <dgm:presLayoutVars>
          <dgm:chMax val="1"/>
          <dgm:chPref val="1"/>
        </dgm:presLayoutVars>
      </dgm:prSet>
      <dgm:spPr/>
    </dgm:pt>
    <dgm:pt modelId="{42EE3F52-B335-405E-9C36-70D3DE113C3F}" type="pres">
      <dgm:prSet presAssocID="{6C9A2DC3-47FC-4EC0-863E-7BA6EDB6E7F6}" presName="sibTrans" presStyleCnt="0"/>
      <dgm:spPr/>
    </dgm:pt>
    <dgm:pt modelId="{E537E452-1D58-41C2-9A8B-A22A4911159C}" type="pres">
      <dgm:prSet presAssocID="{B8D95A8A-78A4-449D-B1A5-A55068CEC60F}" presName="compNode" presStyleCnt="0"/>
      <dgm:spPr/>
    </dgm:pt>
    <dgm:pt modelId="{44DE8124-9219-4180-8E92-D64911F21532}" type="pres">
      <dgm:prSet presAssocID="{B8D95A8A-78A4-449D-B1A5-A55068CEC60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ze"/>
        </a:ext>
      </dgm:extLst>
    </dgm:pt>
    <dgm:pt modelId="{E8618A77-A4BA-4D5E-895A-40C9B9212E1E}" type="pres">
      <dgm:prSet presAssocID="{B8D95A8A-78A4-449D-B1A5-A55068CEC60F}" presName="spaceRect" presStyleCnt="0"/>
      <dgm:spPr/>
    </dgm:pt>
    <dgm:pt modelId="{7CE57C4D-F346-4129-9F01-DEACD8C21F57}" type="pres">
      <dgm:prSet presAssocID="{B8D95A8A-78A4-449D-B1A5-A55068CEC60F}" presName="textRect" presStyleLbl="revTx" presStyleIdx="1" presStyleCnt="6">
        <dgm:presLayoutVars>
          <dgm:chMax val="1"/>
          <dgm:chPref val="1"/>
        </dgm:presLayoutVars>
      </dgm:prSet>
      <dgm:spPr/>
    </dgm:pt>
    <dgm:pt modelId="{CD2292C0-8DA7-4D92-B159-81335A2C35F5}" type="pres">
      <dgm:prSet presAssocID="{D8CE0AF0-6A51-4211-8732-471B4CA707C9}" presName="sibTrans" presStyleCnt="0"/>
      <dgm:spPr/>
    </dgm:pt>
    <dgm:pt modelId="{8700DD1E-8A72-4433-B871-35DE0FBAC70B}" type="pres">
      <dgm:prSet presAssocID="{41D9F7F2-8A61-426C-BD15-0844FF0B1980}" presName="compNode" presStyleCnt="0"/>
      <dgm:spPr/>
    </dgm:pt>
    <dgm:pt modelId="{E3807789-7A3D-402B-A0D3-E82CD833389D}" type="pres">
      <dgm:prSet presAssocID="{41D9F7F2-8A61-426C-BD15-0844FF0B198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D2DA24B7-467E-4AFA-B227-424186514E0D}" type="pres">
      <dgm:prSet presAssocID="{41D9F7F2-8A61-426C-BD15-0844FF0B1980}" presName="spaceRect" presStyleCnt="0"/>
      <dgm:spPr/>
    </dgm:pt>
    <dgm:pt modelId="{5A09CEE8-ACCD-4B60-B6D8-E13FC02B1F54}" type="pres">
      <dgm:prSet presAssocID="{41D9F7F2-8A61-426C-BD15-0844FF0B1980}" presName="textRect" presStyleLbl="revTx" presStyleIdx="2" presStyleCnt="6">
        <dgm:presLayoutVars>
          <dgm:chMax val="1"/>
          <dgm:chPref val="1"/>
        </dgm:presLayoutVars>
      </dgm:prSet>
      <dgm:spPr/>
    </dgm:pt>
    <dgm:pt modelId="{57269517-5A6E-40A5-82D6-031EA8DFC27D}" type="pres">
      <dgm:prSet presAssocID="{5545F511-5916-4C4E-AF66-31EFDA05DDB4}" presName="sibTrans" presStyleCnt="0"/>
      <dgm:spPr/>
    </dgm:pt>
    <dgm:pt modelId="{F82B97E9-AF71-40EF-9A2C-3FDC2E909EDF}" type="pres">
      <dgm:prSet presAssocID="{97D039D8-9E34-452B-87F9-5912A0DF3E42}" presName="compNode" presStyleCnt="0"/>
      <dgm:spPr/>
    </dgm:pt>
    <dgm:pt modelId="{69E40821-44D7-45DB-A696-8CEDE1CB5B01}" type="pres">
      <dgm:prSet presAssocID="{97D039D8-9E34-452B-87F9-5912A0DF3E4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ity"/>
        </a:ext>
      </dgm:extLst>
    </dgm:pt>
    <dgm:pt modelId="{0DAD550E-CC3C-4952-8B7A-1A16387A2162}" type="pres">
      <dgm:prSet presAssocID="{97D039D8-9E34-452B-87F9-5912A0DF3E42}" presName="spaceRect" presStyleCnt="0"/>
      <dgm:spPr/>
    </dgm:pt>
    <dgm:pt modelId="{7A296421-368E-4AC2-9145-ADED8C8EE2FC}" type="pres">
      <dgm:prSet presAssocID="{97D039D8-9E34-452B-87F9-5912A0DF3E42}" presName="textRect" presStyleLbl="revTx" presStyleIdx="3" presStyleCnt="6">
        <dgm:presLayoutVars>
          <dgm:chMax val="1"/>
          <dgm:chPref val="1"/>
        </dgm:presLayoutVars>
      </dgm:prSet>
      <dgm:spPr/>
    </dgm:pt>
    <dgm:pt modelId="{64E7E4E6-EF46-4363-B6FB-73386799A940}" type="pres">
      <dgm:prSet presAssocID="{FBDB0E34-2639-4BE3-B09E-2351173BB132}" presName="sibTrans" presStyleCnt="0"/>
      <dgm:spPr/>
    </dgm:pt>
    <dgm:pt modelId="{687477F4-445F-434E-85A1-64AC4EE01835}" type="pres">
      <dgm:prSet presAssocID="{A0552D41-ED19-42A2-86EE-FB3B160758AB}" presName="compNode" presStyleCnt="0"/>
      <dgm:spPr/>
    </dgm:pt>
    <dgm:pt modelId="{04A14E31-0E8D-4813-9B24-869C11EF0F61}" type="pres">
      <dgm:prSet presAssocID="{A0552D41-ED19-42A2-86EE-FB3B160758AB}"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Head with Gears"/>
        </a:ext>
      </dgm:extLst>
    </dgm:pt>
    <dgm:pt modelId="{202E0549-81F7-4D75-A52B-C2E705FCDB11}" type="pres">
      <dgm:prSet presAssocID="{A0552D41-ED19-42A2-86EE-FB3B160758AB}" presName="spaceRect" presStyleCnt="0"/>
      <dgm:spPr/>
    </dgm:pt>
    <dgm:pt modelId="{C3F02D4B-5497-4C34-98F4-F01DE1912671}" type="pres">
      <dgm:prSet presAssocID="{A0552D41-ED19-42A2-86EE-FB3B160758AB}" presName="textRect" presStyleLbl="revTx" presStyleIdx="4" presStyleCnt="6">
        <dgm:presLayoutVars>
          <dgm:chMax val="1"/>
          <dgm:chPref val="1"/>
        </dgm:presLayoutVars>
      </dgm:prSet>
      <dgm:spPr/>
    </dgm:pt>
    <dgm:pt modelId="{EDF291A1-F906-4C49-A2EB-5966CB9F82C5}" type="pres">
      <dgm:prSet presAssocID="{964016FB-7A4C-4ECA-AB25-AF06B61CC42D}" presName="sibTrans" presStyleCnt="0"/>
      <dgm:spPr/>
    </dgm:pt>
    <dgm:pt modelId="{6EDA407F-1675-4704-9A44-68A4B5704DE6}" type="pres">
      <dgm:prSet presAssocID="{E2C73C25-BE67-4D2A-A2F2-0B3E1BD9CF66}" presName="compNode" presStyleCnt="0"/>
      <dgm:spPr/>
    </dgm:pt>
    <dgm:pt modelId="{3546E42D-D292-4169-8FA7-04B0C3E0F8E4}" type="pres">
      <dgm:prSet presAssocID="{E2C73C25-BE67-4D2A-A2F2-0B3E1BD9CF6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Plant"/>
        </a:ext>
      </dgm:extLst>
    </dgm:pt>
    <dgm:pt modelId="{074E9367-9560-4210-A820-6625FAC4961D}" type="pres">
      <dgm:prSet presAssocID="{E2C73C25-BE67-4D2A-A2F2-0B3E1BD9CF66}" presName="spaceRect" presStyleCnt="0"/>
      <dgm:spPr/>
    </dgm:pt>
    <dgm:pt modelId="{C20954AF-3AB0-4850-BA46-8A30201AE9A7}" type="pres">
      <dgm:prSet presAssocID="{E2C73C25-BE67-4D2A-A2F2-0B3E1BD9CF66}" presName="textRect" presStyleLbl="revTx" presStyleIdx="5" presStyleCnt="6">
        <dgm:presLayoutVars>
          <dgm:chMax val="1"/>
          <dgm:chPref val="1"/>
        </dgm:presLayoutVars>
      </dgm:prSet>
      <dgm:spPr/>
    </dgm:pt>
  </dgm:ptLst>
  <dgm:cxnLst>
    <dgm:cxn modelId="{4F9B6B04-4474-4438-907B-2FE22172A732}" srcId="{47E1CF10-200F-491D-A0DB-31CB0022242C}" destId="{B8D95A8A-78A4-449D-B1A5-A55068CEC60F}" srcOrd="1" destOrd="0" parTransId="{11C50B8F-B065-4572-B5B0-DC38C30E304D}" sibTransId="{D8CE0AF0-6A51-4211-8732-471B4CA707C9}"/>
    <dgm:cxn modelId="{9224AF18-5031-4AF2-8090-1FA600121F73}" srcId="{47E1CF10-200F-491D-A0DB-31CB0022242C}" destId="{0ADBDCD2-B766-46F3-BB66-3526AE75502C}" srcOrd="0" destOrd="0" parTransId="{8D215970-525D-48C6-BDFE-622585F207EB}" sibTransId="{6C9A2DC3-47FC-4EC0-863E-7BA6EDB6E7F6}"/>
    <dgm:cxn modelId="{196EF51B-F0F2-46EB-B78E-F885BA32678D}" srcId="{47E1CF10-200F-491D-A0DB-31CB0022242C}" destId="{41D9F7F2-8A61-426C-BD15-0844FF0B1980}" srcOrd="2" destOrd="0" parTransId="{E330318A-AC46-4024-804E-8EC3C2B6EF0E}" sibTransId="{5545F511-5916-4C4E-AF66-31EFDA05DDB4}"/>
    <dgm:cxn modelId="{08336065-8208-44F3-BB86-FCBFFCB2BBEF}" type="presOf" srcId="{47E1CF10-200F-491D-A0DB-31CB0022242C}" destId="{183EDE2B-529D-42CE-B79B-04DF9A9812A8}" srcOrd="0" destOrd="0" presId="urn:microsoft.com/office/officeart/2018/2/layout/IconLabelList"/>
    <dgm:cxn modelId="{89D6994F-45FD-4B5D-9F07-99ADAE1084A6}" srcId="{47E1CF10-200F-491D-A0DB-31CB0022242C}" destId="{97D039D8-9E34-452B-87F9-5912A0DF3E42}" srcOrd="3" destOrd="0" parTransId="{6B60D020-FEDA-4957-9ED8-06BD84B8F955}" sibTransId="{FBDB0E34-2639-4BE3-B09E-2351173BB132}"/>
    <dgm:cxn modelId="{7B829C50-4E22-467D-A9FC-78285A5EBA41}" srcId="{47E1CF10-200F-491D-A0DB-31CB0022242C}" destId="{E2C73C25-BE67-4D2A-A2F2-0B3E1BD9CF66}" srcOrd="5" destOrd="0" parTransId="{AC536277-B86E-40CF-9BEB-F3E944246345}" sibTransId="{D4CA7E20-5750-4215-AA79-A059E960CD9F}"/>
    <dgm:cxn modelId="{33FFAE7D-9158-4D25-B7BC-786064215ABC}" type="presOf" srcId="{97D039D8-9E34-452B-87F9-5912A0DF3E42}" destId="{7A296421-368E-4AC2-9145-ADED8C8EE2FC}" srcOrd="0" destOrd="0" presId="urn:microsoft.com/office/officeart/2018/2/layout/IconLabelList"/>
    <dgm:cxn modelId="{BF02E592-BCB9-4547-AAB3-02AF06C9CC86}" type="presOf" srcId="{A0552D41-ED19-42A2-86EE-FB3B160758AB}" destId="{C3F02D4B-5497-4C34-98F4-F01DE1912671}" srcOrd="0" destOrd="0" presId="urn:microsoft.com/office/officeart/2018/2/layout/IconLabelList"/>
    <dgm:cxn modelId="{C467EBB8-7E84-40B6-8645-D3573301CFB2}" srcId="{47E1CF10-200F-491D-A0DB-31CB0022242C}" destId="{A0552D41-ED19-42A2-86EE-FB3B160758AB}" srcOrd="4" destOrd="0" parTransId="{6870D0C3-F400-49EA-9C5F-0E3C30164ABF}" sibTransId="{964016FB-7A4C-4ECA-AB25-AF06B61CC42D}"/>
    <dgm:cxn modelId="{D27A6FCC-695A-4AC1-9DD2-A1A0956F9085}" type="presOf" srcId="{0ADBDCD2-B766-46F3-BB66-3526AE75502C}" destId="{899C72FE-D2B9-4F5F-9B3C-AB90A6E3F28E}" srcOrd="0" destOrd="0" presId="urn:microsoft.com/office/officeart/2018/2/layout/IconLabelList"/>
    <dgm:cxn modelId="{42AD0CD0-DE0E-4041-A98B-50C9CE0F7B42}" type="presOf" srcId="{B8D95A8A-78A4-449D-B1A5-A55068CEC60F}" destId="{7CE57C4D-F346-4129-9F01-DEACD8C21F57}" srcOrd="0" destOrd="0" presId="urn:microsoft.com/office/officeart/2018/2/layout/IconLabelList"/>
    <dgm:cxn modelId="{CFA2D0DE-2ECA-4648-9431-4F28DBB4F5FD}" type="presOf" srcId="{41D9F7F2-8A61-426C-BD15-0844FF0B1980}" destId="{5A09CEE8-ACCD-4B60-B6D8-E13FC02B1F54}" srcOrd="0" destOrd="0" presId="urn:microsoft.com/office/officeart/2018/2/layout/IconLabelList"/>
    <dgm:cxn modelId="{C510B9EB-7869-40CF-96EB-3BAEBD5FA84B}" type="presOf" srcId="{E2C73C25-BE67-4D2A-A2F2-0B3E1BD9CF66}" destId="{C20954AF-3AB0-4850-BA46-8A30201AE9A7}" srcOrd="0" destOrd="0" presId="urn:microsoft.com/office/officeart/2018/2/layout/IconLabelList"/>
    <dgm:cxn modelId="{4420650A-9559-4998-ADB3-87C849CAFA5F}" type="presParOf" srcId="{183EDE2B-529D-42CE-B79B-04DF9A9812A8}" destId="{405D7F3E-737A-4EF2-A61C-F8385EA5ACB9}" srcOrd="0" destOrd="0" presId="urn:microsoft.com/office/officeart/2018/2/layout/IconLabelList"/>
    <dgm:cxn modelId="{84BE3D2E-67B8-4EAA-A355-5ACE90DFDAA6}" type="presParOf" srcId="{405D7F3E-737A-4EF2-A61C-F8385EA5ACB9}" destId="{BACA1D02-4481-40AF-9EBD-F406E6C98E77}" srcOrd="0" destOrd="0" presId="urn:microsoft.com/office/officeart/2018/2/layout/IconLabelList"/>
    <dgm:cxn modelId="{15FFECFC-7621-43D5-9AA8-61D5A8F975AC}" type="presParOf" srcId="{405D7F3E-737A-4EF2-A61C-F8385EA5ACB9}" destId="{272A79DF-0171-4E82-AEFD-4104CAC66959}" srcOrd="1" destOrd="0" presId="urn:microsoft.com/office/officeart/2018/2/layout/IconLabelList"/>
    <dgm:cxn modelId="{B2F59A04-B982-4557-98F8-BAD81DF1D61B}" type="presParOf" srcId="{405D7F3E-737A-4EF2-A61C-F8385EA5ACB9}" destId="{899C72FE-D2B9-4F5F-9B3C-AB90A6E3F28E}" srcOrd="2" destOrd="0" presId="urn:microsoft.com/office/officeart/2018/2/layout/IconLabelList"/>
    <dgm:cxn modelId="{BF7F98F7-EFC9-4F64-8D03-C6129798704A}" type="presParOf" srcId="{183EDE2B-529D-42CE-B79B-04DF9A9812A8}" destId="{42EE3F52-B335-405E-9C36-70D3DE113C3F}" srcOrd="1" destOrd="0" presId="urn:microsoft.com/office/officeart/2018/2/layout/IconLabelList"/>
    <dgm:cxn modelId="{BFDE1B76-F51B-4AAF-B669-434074D1E89D}" type="presParOf" srcId="{183EDE2B-529D-42CE-B79B-04DF9A9812A8}" destId="{E537E452-1D58-41C2-9A8B-A22A4911159C}" srcOrd="2" destOrd="0" presId="urn:microsoft.com/office/officeart/2018/2/layout/IconLabelList"/>
    <dgm:cxn modelId="{03D62DD8-3D1A-4375-809E-3AC7A4AFF862}" type="presParOf" srcId="{E537E452-1D58-41C2-9A8B-A22A4911159C}" destId="{44DE8124-9219-4180-8E92-D64911F21532}" srcOrd="0" destOrd="0" presId="urn:microsoft.com/office/officeart/2018/2/layout/IconLabelList"/>
    <dgm:cxn modelId="{2E8A77B2-56B4-4193-9691-AF11F760C316}" type="presParOf" srcId="{E537E452-1D58-41C2-9A8B-A22A4911159C}" destId="{E8618A77-A4BA-4D5E-895A-40C9B9212E1E}" srcOrd="1" destOrd="0" presId="urn:microsoft.com/office/officeart/2018/2/layout/IconLabelList"/>
    <dgm:cxn modelId="{CCAA0442-1B3E-485B-946A-E2C610A4B08E}" type="presParOf" srcId="{E537E452-1D58-41C2-9A8B-A22A4911159C}" destId="{7CE57C4D-F346-4129-9F01-DEACD8C21F57}" srcOrd="2" destOrd="0" presId="urn:microsoft.com/office/officeart/2018/2/layout/IconLabelList"/>
    <dgm:cxn modelId="{CBB97814-52F5-4351-8C6E-B3076E65954B}" type="presParOf" srcId="{183EDE2B-529D-42CE-B79B-04DF9A9812A8}" destId="{CD2292C0-8DA7-4D92-B159-81335A2C35F5}" srcOrd="3" destOrd="0" presId="urn:microsoft.com/office/officeart/2018/2/layout/IconLabelList"/>
    <dgm:cxn modelId="{45B4702B-1D33-4A51-9404-D09E50F435A1}" type="presParOf" srcId="{183EDE2B-529D-42CE-B79B-04DF9A9812A8}" destId="{8700DD1E-8A72-4433-B871-35DE0FBAC70B}" srcOrd="4" destOrd="0" presId="urn:microsoft.com/office/officeart/2018/2/layout/IconLabelList"/>
    <dgm:cxn modelId="{B2B29E50-C5F1-47CE-9EFD-4175E89ACB80}" type="presParOf" srcId="{8700DD1E-8A72-4433-B871-35DE0FBAC70B}" destId="{E3807789-7A3D-402B-A0D3-E82CD833389D}" srcOrd="0" destOrd="0" presId="urn:microsoft.com/office/officeart/2018/2/layout/IconLabelList"/>
    <dgm:cxn modelId="{CFBEE18D-CD01-4EB9-9C82-0AD0849E24A4}" type="presParOf" srcId="{8700DD1E-8A72-4433-B871-35DE0FBAC70B}" destId="{D2DA24B7-467E-4AFA-B227-424186514E0D}" srcOrd="1" destOrd="0" presId="urn:microsoft.com/office/officeart/2018/2/layout/IconLabelList"/>
    <dgm:cxn modelId="{31B5B356-8571-44B0-B21D-90231BE08002}" type="presParOf" srcId="{8700DD1E-8A72-4433-B871-35DE0FBAC70B}" destId="{5A09CEE8-ACCD-4B60-B6D8-E13FC02B1F54}" srcOrd="2" destOrd="0" presId="urn:microsoft.com/office/officeart/2018/2/layout/IconLabelList"/>
    <dgm:cxn modelId="{9520462C-6957-4063-AA25-8E079A077B44}" type="presParOf" srcId="{183EDE2B-529D-42CE-B79B-04DF9A9812A8}" destId="{57269517-5A6E-40A5-82D6-031EA8DFC27D}" srcOrd="5" destOrd="0" presId="urn:microsoft.com/office/officeart/2018/2/layout/IconLabelList"/>
    <dgm:cxn modelId="{817B03B7-CB82-4604-B9DD-4E409A914F02}" type="presParOf" srcId="{183EDE2B-529D-42CE-B79B-04DF9A9812A8}" destId="{F82B97E9-AF71-40EF-9A2C-3FDC2E909EDF}" srcOrd="6" destOrd="0" presId="urn:microsoft.com/office/officeart/2018/2/layout/IconLabelList"/>
    <dgm:cxn modelId="{B89F280E-7670-4E4F-87E9-2A8D40D73BC8}" type="presParOf" srcId="{F82B97E9-AF71-40EF-9A2C-3FDC2E909EDF}" destId="{69E40821-44D7-45DB-A696-8CEDE1CB5B01}" srcOrd="0" destOrd="0" presId="urn:microsoft.com/office/officeart/2018/2/layout/IconLabelList"/>
    <dgm:cxn modelId="{D3DEECFF-9ED5-4893-B1AD-F357ABFC5BC0}" type="presParOf" srcId="{F82B97E9-AF71-40EF-9A2C-3FDC2E909EDF}" destId="{0DAD550E-CC3C-4952-8B7A-1A16387A2162}" srcOrd="1" destOrd="0" presId="urn:microsoft.com/office/officeart/2018/2/layout/IconLabelList"/>
    <dgm:cxn modelId="{6E8609E6-926F-44EE-BD6E-430A219F6E49}" type="presParOf" srcId="{F82B97E9-AF71-40EF-9A2C-3FDC2E909EDF}" destId="{7A296421-368E-4AC2-9145-ADED8C8EE2FC}" srcOrd="2" destOrd="0" presId="urn:microsoft.com/office/officeart/2018/2/layout/IconLabelList"/>
    <dgm:cxn modelId="{FDC3876B-3511-417B-9756-1FE2D07A3447}" type="presParOf" srcId="{183EDE2B-529D-42CE-B79B-04DF9A9812A8}" destId="{64E7E4E6-EF46-4363-B6FB-73386799A940}" srcOrd="7" destOrd="0" presId="urn:microsoft.com/office/officeart/2018/2/layout/IconLabelList"/>
    <dgm:cxn modelId="{5F9A8D1B-31F1-449A-BA36-80C44A5995E7}" type="presParOf" srcId="{183EDE2B-529D-42CE-B79B-04DF9A9812A8}" destId="{687477F4-445F-434E-85A1-64AC4EE01835}" srcOrd="8" destOrd="0" presId="urn:microsoft.com/office/officeart/2018/2/layout/IconLabelList"/>
    <dgm:cxn modelId="{5A8C519C-174D-4820-9171-C9225CB77468}" type="presParOf" srcId="{687477F4-445F-434E-85A1-64AC4EE01835}" destId="{04A14E31-0E8D-4813-9B24-869C11EF0F61}" srcOrd="0" destOrd="0" presId="urn:microsoft.com/office/officeart/2018/2/layout/IconLabelList"/>
    <dgm:cxn modelId="{F198D663-D3D5-4CD1-ADF4-18DE1ED2C897}" type="presParOf" srcId="{687477F4-445F-434E-85A1-64AC4EE01835}" destId="{202E0549-81F7-4D75-A52B-C2E705FCDB11}" srcOrd="1" destOrd="0" presId="urn:microsoft.com/office/officeart/2018/2/layout/IconLabelList"/>
    <dgm:cxn modelId="{F09B4401-E2DE-4BDB-AED5-9652627B7FB1}" type="presParOf" srcId="{687477F4-445F-434E-85A1-64AC4EE01835}" destId="{C3F02D4B-5497-4C34-98F4-F01DE1912671}" srcOrd="2" destOrd="0" presId="urn:microsoft.com/office/officeart/2018/2/layout/IconLabelList"/>
    <dgm:cxn modelId="{97A9AB58-7305-4FF6-8553-502137EF867B}" type="presParOf" srcId="{183EDE2B-529D-42CE-B79B-04DF9A9812A8}" destId="{EDF291A1-F906-4C49-A2EB-5966CB9F82C5}" srcOrd="9" destOrd="0" presId="urn:microsoft.com/office/officeart/2018/2/layout/IconLabelList"/>
    <dgm:cxn modelId="{0F52E36A-8029-4558-85EA-FA1667FAC1B4}" type="presParOf" srcId="{183EDE2B-529D-42CE-B79B-04DF9A9812A8}" destId="{6EDA407F-1675-4704-9A44-68A4B5704DE6}" srcOrd="10" destOrd="0" presId="urn:microsoft.com/office/officeart/2018/2/layout/IconLabelList"/>
    <dgm:cxn modelId="{AB4B9F17-DBB8-49D3-BDF1-5DB119B18A63}" type="presParOf" srcId="{6EDA407F-1675-4704-9A44-68A4B5704DE6}" destId="{3546E42D-D292-4169-8FA7-04B0C3E0F8E4}" srcOrd="0" destOrd="0" presId="urn:microsoft.com/office/officeart/2018/2/layout/IconLabelList"/>
    <dgm:cxn modelId="{CAB565FD-CE94-4D98-BF3E-CE074E0FB709}" type="presParOf" srcId="{6EDA407F-1675-4704-9A44-68A4B5704DE6}" destId="{074E9367-9560-4210-A820-6625FAC4961D}" srcOrd="1" destOrd="0" presId="urn:microsoft.com/office/officeart/2018/2/layout/IconLabelList"/>
    <dgm:cxn modelId="{245B2CD2-3705-42E9-8A7D-EACC70E76690}" type="presParOf" srcId="{6EDA407F-1675-4704-9A44-68A4B5704DE6}" destId="{C20954AF-3AB0-4850-BA46-8A30201AE9A7}" srcOrd="2" destOrd="0" presId="urn:microsoft.com/office/officeart/2018/2/layout/Icon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34403-00BE-422C-9498-5C10DFC1697A}">
      <dsp:nvSpPr>
        <dsp:cNvPr id="0" name=""/>
        <dsp:cNvSpPr/>
      </dsp:nvSpPr>
      <dsp:spPr>
        <a:xfrm>
          <a:off x="244450" y="1634"/>
          <a:ext cx="2255677" cy="13534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Manual observation by farmers or agricultural experts</a:t>
          </a:r>
        </a:p>
      </dsp:txBody>
      <dsp:txXfrm>
        <a:off x="244450" y="1634"/>
        <a:ext cx="2255677" cy="1353406"/>
      </dsp:txXfrm>
    </dsp:sp>
    <dsp:sp modelId="{83DEB1F5-5252-4FF5-BA58-6E8DFA0CB072}">
      <dsp:nvSpPr>
        <dsp:cNvPr id="0" name=""/>
        <dsp:cNvSpPr/>
      </dsp:nvSpPr>
      <dsp:spPr>
        <a:xfrm>
          <a:off x="2725694" y="1634"/>
          <a:ext cx="2255677" cy="13534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Basic mobile apps or offline image-based tools</a:t>
          </a:r>
        </a:p>
      </dsp:txBody>
      <dsp:txXfrm>
        <a:off x="2725694" y="1634"/>
        <a:ext cx="2255677" cy="1353406"/>
      </dsp:txXfrm>
    </dsp:sp>
    <dsp:sp modelId="{93945A70-E0D1-444D-B083-B35FDE64EB1D}">
      <dsp:nvSpPr>
        <dsp:cNvPr id="0" name=""/>
        <dsp:cNvSpPr/>
      </dsp:nvSpPr>
      <dsp:spPr>
        <a:xfrm>
          <a:off x="244450" y="1580608"/>
          <a:ext cx="2255677" cy="13534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Local storage or device-based systems</a:t>
          </a:r>
        </a:p>
      </dsp:txBody>
      <dsp:txXfrm>
        <a:off x="244450" y="1580608"/>
        <a:ext cx="2255677" cy="1353406"/>
      </dsp:txXfrm>
    </dsp:sp>
    <dsp:sp modelId="{17AE5B55-910C-498F-B6FC-38DF1AACE0AD}">
      <dsp:nvSpPr>
        <dsp:cNvPr id="0" name=""/>
        <dsp:cNvSpPr/>
      </dsp:nvSpPr>
      <dsp:spPr>
        <a:xfrm>
          <a:off x="2725694" y="1580608"/>
          <a:ext cx="2255677" cy="13534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Requires on-site experts for diagnosis</a:t>
          </a:r>
        </a:p>
      </dsp:txBody>
      <dsp:txXfrm>
        <a:off x="2725694" y="1580608"/>
        <a:ext cx="2255677" cy="1353406"/>
      </dsp:txXfrm>
    </dsp:sp>
    <dsp:sp modelId="{6079503A-077B-456D-A97F-0EAF3AE7A4D8}">
      <dsp:nvSpPr>
        <dsp:cNvPr id="0" name=""/>
        <dsp:cNvSpPr/>
      </dsp:nvSpPr>
      <dsp:spPr>
        <a:xfrm>
          <a:off x="244450" y="3159582"/>
          <a:ext cx="2255677" cy="13534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Mostly manual or semi-automated</a:t>
          </a:r>
        </a:p>
      </dsp:txBody>
      <dsp:txXfrm>
        <a:off x="244450" y="3159582"/>
        <a:ext cx="2255677" cy="1353406"/>
      </dsp:txXfrm>
    </dsp:sp>
    <dsp:sp modelId="{52157BA6-3C57-4D8D-BBEF-F8DC9ABA625C}">
      <dsp:nvSpPr>
        <dsp:cNvPr id="0" name=""/>
        <dsp:cNvSpPr/>
      </dsp:nvSpPr>
      <dsp:spPr>
        <a:xfrm>
          <a:off x="2725694" y="3159582"/>
          <a:ext cx="2255677" cy="13534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Rarely included in existing systems</a:t>
          </a:r>
        </a:p>
      </dsp:txBody>
      <dsp:txXfrm>
        <a:off x="2725694" y="3159582"/>
        <a:ext cx="2255677" cy="13534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CA1D02-4481-40AF-9EBD-F406E6C98E77}">
      <dsp:nvSpPr>
        <dsp:cNvPr id="0" name=""/>
        <dsp:cNvSpPr/>
      </dsp:nvSpPr>
      <dsp:spPr>
        <a:xfrm>
          <a:off x="503405" y="299988"/>
          <a:ext cx="778359" cy="7783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9C72FE-D2B9-4F5F-9B3C-AB90A6E3F28E}">
      <dsp:nvSpPr>
        <dsp:cNvPr id="0" name=""/>
        <dsp:cNvSpPr/>
      </dsp:nvSpPr>
      <dsp:spPr>
        <a:xfrm>
          <a:off x="27741" y="1349225"/>
          <a:ext cx="1729687" cy="69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Time-consuming, error-prone, and dependent on human expertise</a:t>
          </a:r>
        </a:p>
      </dsp:txBody>
      <dsp:txXfrm>
        <a:off x="27741" y="1349225"/>
        <a:ext cx="1729687" cy="691875"/>
      </dsp:txXfrm>
    </dsp:sp>
    <dsp:sp modelId="{44DE8124-9219-4180-8E92-D64911F21532}">
      <dsp:nvSpPr>
        <dsp:cNvPr id="0" name=""/>
        <dsp:cNvSpPr/>
      </dsp:nvSpPr>
      <dsp:spPr>
        <a:xfrm>
          <a:off x="2535788" y="299988"/>
          <a:ext cx="778359" cy="7783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E57C4D-F346-4129-9F01-DEACD8C21F57}">
      <dsp:nvSpPr>
        <dsp:cNvPr id="0" name=""/>
        <dsp:cNvSpPr/>
      </dsp:nvSpPr>
      <dsp:spPr>
        <a:xfrm>
          <a:off x="2060124" y="1349225"/>
          <a:ext cx="1729687" cy="69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Limited accuracy, not scalable, lack of real-time processing</a:t>
          </a:r>
        </a:p>
      </dsp:txBody>
      <dsp:txXfrm>
        <a:off x="2060124" y="1349225"/>
        <a:ext cx="1729687" cy="691875"/>
      </dsp:txXfrm>
    </dsp:sp>
    <dsp:sp modelId="{E3807789-7A3D-402B-A0D3-E82CD833389D}">
      <dsp:nvSpPr>
        <dsp:cNvPr id="0" name=""/>
        <dsp:cNvSpPr/>
      </dsp:nvSpPr>
      <dsp:spPr>
        <a:xfrm>
          <a:off x="4568171" y="299988"/>
          <a:ext cx="778359" cy="7783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09CEE8-ACCD-4B60-B6D8-E13FC02B1F54}">
      <dsp:nvSpPr>
        <dsp:cNvPr id="0" name=""/>
        <dsp:cNvSpPr/>
      </dsp:nvSpPr>
      <dsp:spPr>
        <a:xfrm>
          <a:off x="4092507" y="1349225"/>
          <a:ext cx="1729687" cy="69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Data loss risk, no centralized storage or data sharing</a:t>
          </a:r>
        </a:p>
      </dsp:txBody>
      <dsp:txXfrm>
        <a:off x="4092507" y="1349225"/>
        <a:ext cx="1729687" cy="691875"/>
      </dsp:txXfrm>
    </dsp:sp>
    <dsp:sp modelId="{69E40821-44D7-45DB-A696-8CEDE1CB5B01}">
      <dsp:nvSpPr>
        <dsp:cNvPr id="0" name=""/>
        <dsp:cNvSpPr/>
      </dsp:nvSpPr>
      <dsp:spPr>
        <a:xfrm>
          <a:off x="503405" y="2473522"/>
          <a:ext cx="778359" cy="7783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296421-368E-4AC2-9145-ADED8C8EE2FC}">
      <dsp:nvSpPr>
        <dsp:cNvPr id="0" name=""/>
        <dsp:cNvSpPr/>
      </dsp:nvSpPr>
      <dsp:spPr>
        <a:xfrm>
          <a:off x="27741" y="3522759"/>
          <a:ext cx="1729687" cy="69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Difficult to access in rural or remote areas</a:t>
          </a:r>
        </a:p>
      </dsp:txBody>
      <dsp:txXfrm>
        <a:off x="27741" y="3522759"/>
        <a:ext cx="1729687" cy="691875"/>
      </dsp:txXfrm>
    </dsp:sp>
    <dsp:sp modelId="{04A14E31-0E8D-4813-9B24-869C11EF0F61}">
      <dsp:nvSpPr>
        <dsp:cNvPr id="0" name=""/>
        <dsp:cNvSpPr/>
      </dsp:nvSpPr>
      <dsp:spPr>
        <a:xfrm>
          <a:off x="2535788" y="2473522"/>
          <a:ext cx="778359" cy="77835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F02D4B-5497-4C34-98F4-F01DE1912671}">
      <dsp:nvSpPr>
        <dsp:cNvPr id="0" name=""/>
        <dsp:cNvSpPr/>
      </dsp:nvSpPr>
      <dsp:spPr>
        <a:xfrm>
          <a:off x="2060124" y="3522759"/>
          <a:ext cx="1729687" cy="69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Lacks full automation and intelligent decision support</a:t>
          </a:r>
        </a:p>
      </dsp:txBody>
      <dsp:txXfrm>
        <a:off x="2060124" y="3522759"/>
        <a:ext cx="1729687" cy="691875"/>
      </dsp:txXfrm>
    </dsp:sp>
    <dsp:sp modelId="{3546E42D-D292-4169-8FA7-04B0C3E0F8E4}">
      <dsp:nvSpPr>
        <dsp:cNvPr id="0" name=""/>
        <dsp:cNvSpPr/>
      </dsp:nvSpPr>
      <dsp:spPr>
        <a:xfrm>
          <a:off x="4568171" y="2473522"/>
          <a:ext cx="778359" cy="77835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0954AF-3AB0-4850-BA46-8A30201AE9A7}">
      <dsp:nvSpPr>
        <dsp:cNvPr id="0" name=""/>
        <dsp:cNvSpPr/>
      </dsp:nvSpPr>
      <dsp:spPr>
        <a:xfrm>
          <a:off x="4092507" y="3522759"/>
          <a:ext cx="1729687" cy="69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Farmers cannot estimate future yield accurately</a:t>
          </a:r>
        </a:p>
      </dsp:txBody>
      <dsp:txXfrm>
        <a:off x="4092507" y="3522759"/>
        <a:ext cx="1729687" cy="69187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26429" y="328784"/>
            <a:ext cx="7579178" cy="1639978"/>
          </a:xfrm>
        </p:spPr>
        <p:txBody>
          <a:bodyPr>
            <a:normAutofit fontScale="90000"/>
          </a:bodyPr>
          <a:lstStyle/>
          <a:p>
            <a:r>
              <a:rPr lang="en-US" sz="3900" b="1" dirty="0">
                <a:solidFill>
                  <a:srgbClr val="272D45"/>
                </a:solidFill>
                <a:ea typeface="+mj-lt"/>
                <a:cs typeface="+mj-lt"/>
              </a:rPr>
              <a:t>Cloud-Based Crop Disease Detection and Yield Prediction Using Deep Learning</a:t>
            </a:r>
            <a:endParaRPr lang="en-US" dirty="0"/>
          </a:p>
        </p:txBody>
      </p:sp>
      <p:sp>
        <p:nvSpPr>
          <p:cNvPr id="3" name="Subtitle 2"/>
          <p:cNvSpPr>
            <a:spLocks noGrp="1"/>
          </p:cNvSpPr>
          <p:nvPr>
            <p:ph type="subTitle" idx="1"/>
          </p:nvPr>
        </p:nvSpPr>
        <p:spPr>
          <a:xfrm>
            <a:off x="4748893" y="2602042"/>
            <a:ext cx="7266214" cy="1233941"/>
          </a:xfrm>
        </p:spPr>
        <p:txBody>
          <a:bodyPr vert="horz" lIns="91440" tIns="45720" rIns="91440" bIns="45720" rtlCol="0" anchor="t">
            <a:normAutofit/>
          </a:bodyPr>
          <a:lstStyle/>
          <a:p>
            <a:pPr algn="just"/>
            <a:r>
              <a:rPr lang="en-US" sz="1800" dirty="0">
                <a:solidFill>
                  <a:srgbClr val="2C3249"/>
                </a:solidFill>
                <a:latin typeface="Times New Roman"/>
                <a:cs typeface="Times New Roman"/>
              </a:rPr>
              <a:t>A comprehensive deep learning solution for automated disease identification and yield forecasting, empowering farmers with real-time insights for precision agriculture.</a:t>
            </a:r>
            <a:endParaRPr lang="en-US" dirty="0"/>
          </a:p>
          <a:p>
            <a:endParaRPr lang="en-US" dirty="0"/>
          </a:p>
        </p:txBody>
      </p:sp>
      <p:sp>
        <p:nvSpPr>
          <p:cNvPr id="4" name="TextBox 3">
            <a:extLst>
              <a:ext uri="{FF2B5EF4-FFF2-40B4-BE49-F238E27FC236}">
                <a16:creationId xmlns:a16="http://schemas.microsoft.com/office/drawing/2014/main" id="{EA077232-EF2C-C168-5844-DB2C2CCC9A6C}"/>
              </a:ext>
            </a:extLst>
          </p:cNvPr>
          <p:cNvSpPr txBox="1"/>
          <p:nvPr/>
        </p:nvSpPr>
        <p:spPr>
          <a:xfrm>
            <a:off x="8509760" y="5391609"/>
            <a:ext cx="368202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Panchumarthi</a:t>
            </a:r>
            <a:r>
              <a:rPr lang="en-US" dirty="0"/>
              <a:t> </a:t>
            </a:r>
            <a:r>
              <a:rPr lang="en-US" dirty="0" err="1"/>
              <a:t>SumaDanika</a:t>
            </a:r>
            <a:endParaRPr lang="en-US" dirty="0"/>
          </a:p>
          <a:p>
            <a:r>
              <a:rPr lang="en-US" dirty="0">
                <a:ea typeface="+mn-lt"/>
                <a:cs typeface="+mn-lt"/>
              </a:rPr>
              <a:t>RA2412033010044</a:t>
            </a:r>
            <a:endParaRPr lang="en-US" dirty="0"/>
          </a:p>
        </p:txBody>
      </p:sp>
      <p:pic>
        <p:nvPicPr>
          <p:cNvPr id="5" name="Picture 4" descr="A person sitting in a field with a computer&#10;&#10;AI-generated content may be incorrect.">
            <a:extLst>
              <a:ext uri="{FF2B5EF4-FFF2-40B4-BE49-F238E27FC236}">
                <a16:creationId xmlns:a16="http://schemas.microsoft.com/office/drawing/2014/main" id="{5B751E03-901C-F8D3-B928-F65904ACBB4F}"/>
              </a:ext>
            </a:extLst>
          </p:cNvPr>
          <p:cNvPicPr>
            <a:picLocks noChangeAspect="1"/>
          </p:cNvPicPr>
          <p:nvPr/>
        </p:nvPicPr>
        <p:blipFill>
          <a:blip r:embed="rId2"/>
          <a:stretch>
            <a:fillRect/>
          </a:stretch>
        </p:blipFill>
        <p:spPr>
          <a:xfrm>
            <a:off x="-134717" y="-108857"/>
            <a:ext cx="4759790" cy="7062107"/>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719EDF-6B01-93A1-8790-023DE73A995C}"/>
              </a:ext>
            </a:extLst>
          </p:cNvPr>
          <p:cNvSpPr>
            <a:spLocks noGrp="1"/>
          </p:cNvSpPr>
          <p:nvPr>
            <p:ph type="title"/>
          </p:nvPr>
        </p:nvSpPr>
        <p:spPr>
          <a:xfrm>
            <a:off x="838201" y="558648"/>
            <a:ext cx="5263411" cy="742925"/>
          </a:xfrm>
        </p:spPr>
        <p:txBody>
          <a:bodyPr>
            <a:normAutofit/>
          </a:bodyPr>
          <a:lstStyle/>
          <a:p>
            <a:r>
              <a:rPr lang="en-US" b="1"/>
              <a:t>INTRODUCTION</a:t>
            </a:r>
            <a:endParaRPr lang="en-US"/>
          </a:p>
        </p:txBody>
      </p:sp>
      <p:sp>
        <p:nvSpPr>
          <p:cNvPr id="3" name="Content Placeholder 2">
            <a:extLst>
              <a:ext uri="{FF2B5EF4-FFF2-40B4-BE49-F238E27FC236}">
                <a16:creationId xmlns:a16="http://schemas.microsoft.com/office/drawing/2014/main" id="{C0655E72-4BBD-8DBB-A64F-DD80BA04F8FC}"/>
              </a:ext>
            </a:extLst>
          </p:cNvPr>
          <p:cNvSpPr>
            <a:spLocks noGrp="1"/>
          </p:cNvSpPr>
          <p:nvPr>
            <p:ph idx="1"/>
          </p:nvPr>
        </p:nvSpPr>
        <p:spPr>
          <a:xfrm>
            <a:off x="426962" y="1716440"/>
            <a:ext cx="6288763" cy="4194427"/>
          </a:xfrm>
        </p:spPr>
        <p:txBody>
          <a:bodyPr vert="horz" lIns="91440" tIns="45720" rIns="91440" bIns="45720" rtlCol="0" anchor="t">
            <a:noAutofit/>
          </a:bodyPr>
          <a:lstStyle/>
          <a:p>
            <a:pPr marL="285750" indent="-285750">
              <a:buFont typeface="Wingdings" panose="020B0604020202020204" pitchFamily="34" charset="0"/>
              <a:buChar char="Ø"/>
            </a:pPr>
            <a:r>
              <a:rPr lang="en-US" sz="1600" dirty="0">
                <a:latin typeface="Times New Roman"/>
                <a:ea typeface="+mn-lt"/>
                <a:cs typeface="+mn-lt"/>
              </a:rPr>
              <a:t>Agriculture is vital for global food security, but crop diseases cause major yield losses every year.</a:t>
            </a:r>
            <a:endParaRPr lang="en-US" sz="1600" dirty="0">
              <a:latin typeface="Times New Roman"/>
              <a:cs typeface="Times New Roman"/>
            </a:endParaRPr>
          </a:p>
          <a:p>
            <a:pPr marL="285750" indent="-285750">
              <a:buFont typeface="Wingdings" panose="020B0604020202020204" pitchFamily="34" charset="0"/>
              <a:buChar char="Ø"/>
            </a:pPr>
            <a:r>
              <a:rPr lang="en-US" sz="1600" dirty="0">
                <a:latin typeface="Times New Roman"/>
                <a:ea typeface="+mn-lt"/>
                <a:cs typeface="+mn-lt"/>
              </a:rPr>
              <a:t>Traditional disease detection methods are manual, time-consuming, and require expert knowledge.</a:t>
            </a:r>
            <a:endParaRPr lang="en-US" sz="1600" dirty="0">
              <a:latin typeface="Times New Roman"/>
              <a:cs typeface="Times New Roman"/>
            </a:endParaRPr>
          </a:p>
          <a:p>
            <a:pPr marL="285750" indent="-285750">
              <a:buFont typeface="Wingdings" panose="020B0604020202020204" pitchFamily="34" charset="0"/>
              <a:buChar char="Ø"/>
            </a:pPr>
            <a:r>
              <a:rPr lang="en-US" sz="1600" dirty="0">
                <a:latin typeface="Times New Roman"/>
                <a:ea typeface="+mn-lt"/>
                <a:cs typeface="+mn-lt"/>
              </a:rPr>
              <a:t>Deep Learning, especially Convolutional Neural Networks (CNNs), enables automatic and accurate disease identification from crop images.</a:t>
            </a:r>
            <a:endParaRPr lang="en-US" sz="1600" dirty="0">
              <a:latin typeface="Times New Roman"/>
              <a:cs typeface="Times New Roman"/>
            </a:endParaRPr>
          </a:p>
          <a:p>
            <a:pPr marL="285750" indent="-285750">
              <a:buFont typeface="Wingdings" panose="020B0604020202020204" pitchFamily="34" charset="0"/>
              <a:buChar char="Ø"/>
            </a:pPr>
            <a:r>
              <a:rPr lang="en-US" sz="1600" dirty="0">
                <a:latin typeface="Times New Roman"/>
                <a:ea typeface="+mn-lt"/>
                <a:cs typeface="+mn-lt"/>
              </a:rPr>
              <a:t>Cloud Computing allows real-time data upload, processing, and prediction — accessible from anywhere.</a:t>
            </a:r>
            <a:endParaRPr lang="en-US" sz="1600" dirty="0">
              <a:latin typeface="Times New Roman"/>
              <a:cs typeface="Times New Roman"/>
            </a:endParaRPr>
          </a:p>
          <a:p>
            <a:pPr marL="285750" indent="-285750">
              <a:buFont typeface="Wingdings" panose="020B0604020202020204" pitchFamily="34" charset="0"/>
              <a:buChar char="Ø"/>
            </a:pPr>
            <a:r>
              <a:rPr lang="en-US" sz="1600" dirty="0">
                <a:latin typeface="Times New Roman"/>
                <a:ea typeface="+mn-lt"/>
                <a:cs typeface="+mn-lt"/>
              </a:rPr>
              <a:t>This project integrates AI and Cloud Technologies to:</a:t>
            </a:r>
            <a:endParaRPr lang="en-US" sz="1600" dirty="0">
              <a:latin typeface="Times New Roman"/>
              <a:ea typeface="+mn-lt"/>
              <a:cs typeface="Times New Roman"/>
            </a:endParaRPr>
          </a:p>
          <a:p>
            <a:pPr marL="0" indent="0">
              <a:buNone/>
            </a:pPr>
            <a:r>
              <a:rPr lang="en-US" sz="1600" dirty="0">
                <a:latin typeface="Times New Roman"/>
                <a:ea typeface="+mn-lt"/>
                <a:cs typeface="+mn-lt"/>
              </a:rPr>
              <a:t>                   1. Detect crop diseases early, Predict yield accurately, and Help farmers make data-driven decisions.</a:t>
            </a:r>
            <a:endParaRPr lang="en-US" sz="1600" dirty="0">
              <a:latin typeface="Times New Roman"/>
              <a:cs typeface="Times New Roman"/>
            </a:endParaRPr>
          </a:p>
          <a:p>
            <a:pPr marL="285750" indent="-285750">
              <a:buFont typeface="Wingdings" panose="020B0604020202020204" pitchFamily="34" charset="0"/>
              <a:buChar char="Ø"/>
            </a:pPr>
            <a:r>
              <a:rPr lang="en-US" sz="1600" dirty="0">
                <a:latin typeface="Times New Roman"/>
                <a:ea typeface="+mn-lt"/>
                <a:cs typeface="+mn-lt"/>
              </a:rPr>
              <a:t>The system promotes smart agriculture, cost efficiency, and sustainable farming practices.</a:t>
            </a:r>
            <a:endParaRPr lang="en-US" sz="1600" dirty="0">
              <a:latin typeface="Times New Roman"/>
              <a:cs typeface="Times New Roman"/>
            </a:endParaRPr>
          </a:p>
          <a:p>
            <a:pPr marL="285750" indent="-285750">
              <a:buFont typeface="Wingdings" panose="020B0604020202020204" pitchFamily="34" charset="0"/>
              <a:buChar char="Ø"/>
            </a:pPr>
            <a:endParaRPr lang="en-US" sz="1600" dirty="0">
              <a:latin typeface="Times New Roman"/>
              <a:cs typeface="Times New Roman"/>
            </a:endParaRPr>
          </a:p>
        </p:txBody>
      </p:sp>
      <p:pic>
        <p:nvPicPr>
          <p:cNvPr id="27" name="Picture 26" descr="Plants in a field">
            <a:extLst>
              <a:ext uri="{FF2B5EF4-FFF2-40B4-BE49-F238E27FC236}">
                <a16:creationId xmlns:a16="http://schemas.microsoft.com/office/drawing/2014/main" id="{7495F78B-4991-E505-60E2-C5E332D07D8D}"/>
              </a:ext>
            </a:extLst>
          </p:cNvPr>
          <p:cNvPicPr>
            <a:picLocks noChangeAspect="1"/>
          </p:cNvPicPr>
          <p:nvPr/>
        </p:nvPicPr>
        <p:blipFill>
          <a:blip r:embed="rId2"/>
          <a:srcRect l="19094" r="22869" b="-1"/>
          <a:stretch>
            <a:fillRect/>
          </a:stretch>
        </p:blipFill>
        <p:spPr>
          <a:xfrm>
            <a:off x="6725120"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264390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9E1DA9DD-3B49-3F63-5F83-DE6E5B1DC576}"/>
              </a:ext>
            </a:extLst>
          </p:cNvPr>
          <p:cNvSpPr>
            <a:spLocks noGrp="1"/>
          </p:cNvSpPr>
          <p:nvPr>
            <p:ph type="title"/>
          </p:nvPr>
        </p:nvSpPr>
        <p:spPr>
          <a:xfrm>
            <a:off x="838200" y="365125"/>
            <a:ext cx="5387502" cy="1325563"/>
          </a:xfrm>
        </p:spPr>
        <p:txBody>
          <a:bodyPr>
            <a:normAutofit/>
          </a:bodyPr>
          <a:lstStyle/>
          <a:p>
            <a:r>
              <a:rPr lang="en-US" b="1">
                <a:latin typeface="Times New Roman"/>
                <a:ea typeface="+mj-lt"/>
                <a:cs typeface="+mj-lt"/>
              </a:rPr>
              <a:t>MOTIVATION</a:t>
            </a:r>
            <a:endParaRPr lang="en-US" b="1">
              <a:latin typeface="Times New Roman"/>
              <a:cs typeface="Times New Roman"/>
            </a:endParaRPr>
          </a:p>
        </p:txBody>
      </p:sp>
      <p:sp>
        <p:nvSpPr>
          <p:cNvPr id="3" name="Content Placeholder 2">
            <a:extLst>
              <a:ext uri="{FF2B5EF4-FFF2-40B4-BE49-F238E27FC236}">
                <a16:creationId xmlns:a16="http://schemas.microsoft.com/office/drawing/2014/main" id="{C09401F3-0F96-2FDB-46BA-F097CC1DFE5B}"/>
              </a:ext>
            </a:extLst>
          </p:cNvPr>
          <p:cNvSpPr>
            <a:spLocks noGrp="1"/>
          </p:cNvSpPr>
          <p:nvPr>
            <p:ph idx="1"/>
          </p:nvPr>
        </p:nvSpPr>
        <p:spPr>
          <a:xfrm>
            <a:off x="414867" y="1922387"/>
            <a:ext cx="6415596" cy="4351338"/>
          </a:xfrm>
        </p:spPr>
        <p:txBody>
          <a:bodyPr vert="horz" lIns="91440" tIns="45720" rIns="91440" bIns="45720" rtlCol="0" anchor="t">
            <a:normAutofit/>
          </a:bodyPr>
          <a:lstStyle/>
          <a:p>
            <a:r>
              <a:rPr lang="en-US" sz="1500" dirty="0">
                <a:ea typeface="+mn-lt"/>
                <a:cs typeface="+mn-lt"/>
              </a:rPr>
              <a:t>Agriculture faces huge losses due to late or inaccurate detection of plant diseases.</a:t>
            </a:r>
            <a:endParaRPr lang="en-US" sz="1500" dirty="0"/>
          </a:p>
          <a:p>
            <a:r>
              <a:rPr lang="en-US" sz="1500" dirty="0">
                <a:ea typeface="+mn-lt"/>
                <a:cs typeface="+mn-lt"/>
              </a:rPr>
              <a:t>Manual inspection of crops is difficult for large-scale farming and depends on expert availability.</a:t>
            </a:r>
            <a:endParaRPr lang="en-US" sz="1500" dirty="0"/>
          </a:p>
          <a:p>
            <a:r>
              <a:rPr lang="en-US" sz="1500" dirty="0">
                <a:ea typeface="+mn-lt"/>
                <a:cs typeface="+mn-lt"/>
              </a:rPr>
              <a:t>Farmers need a reliable, automated, and accessible system to detect diseases early and predict yield.</a:t>
            </a:r>
            <a:endParaRPr lang="en-US" sz="1500" dirty="0"/>
          </a:p>
          <a:p>
            <a:r>
              <a:rPr lang="en-US" sz="1500" dirty="0">
                <a:ea typeface="+mn-lt"/>
                <a:cs typeface="+mn-lt"/>
              </a:rPr>
              <a:t>Rapid advances in Deep Learning and Cloud Computing provide powerful tools for real-time analysis.</a:t>
            </a:r>
            <a:endParaRPr lang="en-US" sz="1500" dirty="0"/>
          </a:p>
          <a:p>
            <a:r>
              <a:rPr lang="en-US" sz="1500" dirty="0">
                <a:ea typeface="+mn-lt"/>
                <a:cs typeface="+mn-lt"/>
              </a:rPr>
              <a:t>Integrating these technologies can:</a:t>
            </a:r>
            <a:endParaRPr lang="en-US" sz="1500" dirty="0"/>
          </a:p>
          <a:p>
            <a:pPr marL="0" indent="0">
              <a:buNone/>
            </a:pPr>
            <a:r>
              <a:rPr lang="en-US" sz="1500" dirty="0">
                <a:ea typeface="+mn-lt"/>
                <a:cs typeface="+mn-lt"/>
              </a:rPr>
              <a:t>            1. Reduce dependency on human expertise,</a:t>
            </a:r>
            <a:endParaRPr lang="en-US" sz="1500" dirty="0"/>
          </a:p>
          <a:p>
            <a:pPr marL="0" indent="0">
              <a:buNone/>
            </a:pPr>
            <a:r>
              <a:rPr lang="en-US" sz="1500" dirty="0">
                <a:ea typeface="+mn-lt"/>
                <a:cs typeface="+mn-lt"/>
              </a:rPr>
              <a:t>            2. Save time and cost, and</a:t>
            </a:r>
          </a:p>
          <a:p>
            <a:pPr marL="0" indent="0">
              <a:buNone/>
            </a:pPr>
            <a:r>
              <a:rPr lang="en-US" sz="1500" dirty="0">
                <a:ea typeface="+mn-lt"/>
                <a:cs typeface="+mn-lt"/>
              </a:rPr>
              <a:t>            3. Improve crop health management.</a:t>
            </a:r>
            <a:endParaRPr lang="en-US" sz="1500" dirty="0"/>
          </a:p>
          <a:p>
            <a:r>
              <a:rPr lang="en-US" sz="1500" dirty="0">
                <a:ea typeface="+mn-lt"/>
                <a:cs typeface="+mn-lt"/>
              </a:rPr>
              <a:t>The motivation is to empower farmers with smart, AI-based decision support for sustainable agriculture.</a:t>
            </a:r>
            <a:endParaRPr lang="en-US" sz="1500" dirty="0"/>
          </a:p>
          <a:p>
            <a:endParaRPr lang="en-US" sz="1500"/>
          </a:p>
        </p:txBody>
      </p:sp>
      <p:pic>
        <p:nvPicPr>
          <p:cNvPr id="5" name="Picture 4" descr="Plants in a field">
            <a:extLst>
              <a:ext uri="{FF2B5EF4-FFF2-40B4-BE49-F238E27FC236}">
                <a16:creationId xmlns:a16="http://schemas.microsoft.com/office/drawing/2014/main" id="{A5B01985-4B93-E9CD-9F3D-1A157044E30E}"/>
              </a:ext>
            </a:extLst>
          </p:cNvPr>
          <p:cNvPicPr>
            <a:picLocks noChangeAspect="1"/>
          </p:cNvPicPr>
          <p:nvPr/>
        </p:nvPicPr>
        <p:blipFill>
          <a:blip r:embed="rId2"/>
          <a:srcRect l="14688" r="18466" b="2"/>
          <a:stretch>
            <a:fillRect/>
          </a:stretch>
        </p:blipFill>
        <p:spPr>
          <a:xfrm>
            <a:off x="7177674" y="1730844"/>
            <a:ext cx="5014326" cy="5127156"/>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6"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3451" y="1656147"/>
            <a:ext cx="546100"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8"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4739"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1442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60EE1-1663-232C-BAB4-D2F10EA7A044}"/>
              </a:ext>
            </a:extLst>
          </p:cNvPr>
          <p:cNvSpPr>
            <a:spLocks noGrp="1"/>
          </p:cNvSpPr>
          <p:nvPr>
            <p:ph type="title"/>
          </p:nvPr>
        </p:nvSpPr>
        <p:spPr>
          <a:xfrm>
            <a:off x="-3854" y="-2268"/>
            <a:ext cx="12189277" cy="1325563"/>
          </a:xfrm>
        </p:spPr>
        <p:txBody>
          <a:bodyPr>
            <a:normAutofit/>
          </a:bodyPr>
          <a:lstStyle/>
          <a:p>
            <a:r>
              <a:rPr lang="en-US" sz="4000" b="1" dirty="0">
                <a:latin typeface="Times New Roman"/>
                <a:ea typeface="+mj-lt"/>
                <a:cs typeface="+mj-lt"/>
              </a:rPr>
              <a:t>Understanding the Present System and its Challenges</a:t>
            </a:r>
            <a:endParaRPr lang="en-US" sz="4000" b="1">
              <a:latin typeface="Times New Roman"/>
              <a:cs typeface="Times New Roman"/>
            </a:endParaRPr>
          </a:p>
        </p:txBody>
      </p:sp>
      <p:sp>
        <p:nvSpPr>
          <p:cNvPr id="3" name="Text Placeholder 2">
            <a:extLst>
              <a:ext uri="{FF2B5EF4-FFF2-40B4-BE49-F238E27FC236}">
                <a16:creationId xmlns:a16="http://schemas.microsoft.com/office/drawing/2014/main" id="{CD99E06E-1014-D87B-39C8-5986CD6706B4}"/>
              </a:ext>
            </a:extLst>
          </p:cNvPr>
          <p:cNvSpPr>
            <a:spLocks noGrp="1"/>
          </p:cNvSpPr>
          <p:nvPr>
            <p:ph type="body" idx="1"/>
          </p:nvPr>
        </p:nvSpPr>
        <p:spPr>
          <a:xfrm>
            <a:off x="839788" y="1681163"/>
            <a:ext cx="5239429" cy="429305"/>
          </a:xfrm>
        </p:spPr>
        <p:txBody>
          <a:bodyPr/>
          <a:lstStyle/>
          <a:p>
            <a:r>
              <a:rPr lang="en-US" dirty="0">
                <a:latin typeface="Times New Roman"/>
                <a:cs typeface="Times New Roman"/>
              </a:rPr>
              <a:t>Present System</a:t>
            </a:r>
          </a:p>
        </p:txBody>
      </p:sp>
      <p:graphicFrame>
        <p:nvGraphicFramePr>
          <p:cNvPr id="8" name="Content Placeholder 3">
            <a:extLst>
              <a:ext uri="{FF2B5EF4-FFF2-40B4-BE49-F238E27FC236}">
                <a16:creationId xmlns:a16="http://schemas.microsoft.com/office/drawing/2014/main" id="{8DCF096F-33C4-D0AB-E558-68944E12D88F}"/>
              </a:ext>
            </a:extLst>
          </p:cNvPr>
          <p:cNvGraphicFramePr>
            <a:graphicFrameLocks noGrp="1"/>
          </p:cNvGraphicFramePr>
          <p:nvPr>
            <p:ph sz="half" idx="2"/>
          </p:nvPr>
        </p:nvGraphicFramePr>
        <p:xfrm>
          <a:off x="839788" y="2096861"/>
          <a:ext cx="5225822" cy="45146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4">
            <a:extLst>
              <a:ext uri="{FF2B5EF4-FFF2-40B4-BE49-F238E27FC236}">
                <a16:creationId xmlns:a16="http://schemas.microsoft.com/office/drawing/2014/main" id="{15A0DB55-43B6-3C56-900D-05EC0CA79950}"/>
              </a:ext>
            </a:extLst>
          </p:cNvPr>
          <p:cNvSpPr>
            <a:spLocks noGrp="1"/>
          </p:cNvSpPr>
          <p:nvPr>
            <p:ph type="body" sz="quarter" idx="3"/>
          </p:nvPr>
        </p:nvSpPr>
        <p:spPr>
          <a:xfrm>
            <a:off x="6213021" y="1681163"/>
            <a:ext cx="5142367" cy="429305"/>
          </a:xfrm>
        </p:spPr>
        <p:txBody>
          <a:bodyPr/>
          <a:lstStyle/>
          <a:p>
            <a:r>
              <a:rPr lang="en-US" dirty="0">
                <a:latin typeface="Times New Roman"/>
                <a:cs typeface="Times New Roman"/>
              </a:rPr>
              <a:t>Challenges /Limitations</a:t>
            </a:r>
          </a:p>
        </p:txBody>
      </p:sp>
      <p:graphicFrame>
        <p:nvGraphicFramePr>
          <p:cNvPr id="10" name="Content Placeholder 5">
            <a:extLst>
              <a:ext uri="{FF2B5EF4-FFF2-40B4-BE49-F238E27FC236}">
                <a16:creationId xmlns:a16="http://schemas.microsoft.com/office/drawing/2014/main" id="{B4177F1B-4E60-F74A-69CB-68FDDBB7CB31}"/>
              </a:ext>
            </a:extLst>
          </p:cNvPr>
          <p:cNvGraphicFramePr>
            <a:graphicFrameLocks noGrp="1"/>
          </p:cNvGraphicFramePr>
          <p:nvPr>
            <p:ph sz="quarter" idx="4"/>
          </p:nvPr>
        </p:nvGraphicFramePr>
        <p:xfrm>
          <a:off x="6131379" y="2096861"/>
          <a:ext cx="5849937" cy="45146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457990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3" name="Rectangle 1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7CB37D-C0B4-EE4A-D2D8-512D7D64B19D}"/>
              </a:ext>
            </a:extLst>
          </p:cNvPr>
          <p:cNvSpPr>
            <a:spLocks noGrp="1"/>
          </p:cNvSpPr>
          <p:nvPr>
            <p:ph type="title"/>
          </p:nvPr>
        </p:nvSpPr>
        <p:spPr>
          <a:xfrm>
            <a:off x="-196" y="576415"/>
            <a:ext cx="7301995" cy="1136364"/>
          </a:xfrm>
        </p:spPr>
        <p:txBody>
          <a:bodyPr anchor="ctr">
            <a:normAutofit/>
          </a:bodyPr>
          <a:lstStyle/>
          <a:p>
            <a:r>
              <a:rPr lang="en-US" sz="3600" b="1" dirty="0">
                <a:latin typeface="Times New Roman"/>
                <a:cs typeface="Times New Roman"/>
              </a:rPr>
              <a:t>INNOVATION OF THE PROJECT</a:t>
            </a:r>
            <a:endParaRPr lang="en-US" sz="3600" dirty="0">
              <a:latin typeface="Times New Roman"/>
              <a:cs typeface="Times New Roman"/>
            </a:endParaRPr>
          </a:p>
        </p:txBody>
      </p:sp>
      <p:sp>
        <p:nvSpPr>
          <p:cNvPr id="5" name="Content Placeholder 4">
            <a:extLst>
              <a:ext uri="{FF2B5EF4-FFF2-40B4-BE49-F238E27FC236}">
                <a16:creationId xmlns:a16="http://schemas.microsoft.com/office/drawing/2014/main" id="{0E62E557-7619-B549-ED3F-B04E039C5CEB}"/>
              </a:ext>
            </a:extLst>
          </p:cNvPr>
          <p:cNvSpPr>
            <a:spLocks noGrp="1"/>
          </p:cNvSpPr>
          <p:nvPr>
            <p:ph idx="1"/>
          </p:nvPr>
        </p:nvSpPr>
        <p:spPr>
          <a:xfrm>
            <a:off x="440333" y="2290763"/>
            <a:ext cx="6266154" cy="4208461"/>
          </a:xfrm>
        </p:spPr>
        <p:txBody>
          <a:bodyPr vert="horz" lIns="91440" tIns="45720" rIns="91440" bIns="45720" rtlCol="0" anchor="ctr">
            <a:noAutofit/>
          </a:bodyPr>
          <a:lstStyle/>
          <a:p>
            <a:r>
              <a:rPr lang="en-US" sz="1400" dirty="0">
                <a:latin typeface="Times New Roman"/>
                <a:ea typeface="+mn-lt"/>
                <a:cs typeface="+mn-lt"/>
              </a:rPr>
              <a:t>The proposed system introduces a novel integration of Deep Learning and Cloud Computing technologies to address the major issues faced in modern agriculture. Unlike traditional methods that rely on manual observation or offline tools, this project offers a real-time, automated, and intelligent solution for detecting crop diseases and predicting yield outcomes.</a:t>
            </a:r>
          </a:p>
          <a:p>
            <a:r>
              <a:rPr lang="en-US" sz="1400" dirty="0">
                <a:latin typeface="Times New Roman"/>
                <a:ea typeface="+mn-lt"/>
                <a:cs typeface="+mn-lt"/>
              </a:rPr>
              <a:t>The innovation lies in combining Convolutional Neural Networks (CNNs) for precise image-based disease classification with cloud-based infrastructure for scalable processing and storage. Farmers can capture leaf images using mobile devices, which are then uploaded to the cloud platform for instant analysis and diagnosis.</a:t>
            </a:r>
          </a:p>
          <a:p>
            <a:r>
              <a:rPr lang="en-US" sz="1400" dirty="0">
                <a:latin typeface="Times New Roman"/>
                <a:ea typeface="+mn-lt"/>
                <a:cs typeface="+mn-lt"/>
              </a:rPr>
              <a:t>By deploying the model on the cloud, the project ensures accessibility from any location, centralized data management, and continuous improvement through model retraining with new datasets. The integration of AI and Cloud technology reduces the need for expert supervision, minimizes human error, and accelerates the decision-making process.</a:t>
            </a:r>
            <a:endParaRPr lang="en-US" sz="1400">
              <a:latin typeface="Times New Roman"/>
              <a:ea typeface="+mn-lt"/>
              <a:cs typeface="Times New Roman"/>
            </a:endParaRPr>
          </a:p>
          <a:p>
            <a:r>
              <a:rPr lang="en-US" sz="1400" dirty="0">
                <a:latin typeface="Times New Roman"/>
                <a:ea typeface="+mn-lt"/>
                <a:cs typeface="+mn-lt"/>
              </a:rPr>
              <a:t>In essence, the project represents a step forward in smart farming, promoting precision agriculture, cost efficiency, and sustainability through intelligent automation.</a:t>
            </a:r>
          </a:p>
        </p:txBody>
      </p:sp>
      <p:pic>
        <p:nvPicPr>
          <p:cNvPr id="7" name="Picture 6" descr="Close up of Barley in the wild">
            <a:extLst>
              <a:ext uri="{FF2B5EF4-FFF2-40B4-BE49-F238E27FC236}">
                <a16:creationId xmlns:a16="http://schemas.microsoft.com/office/drawing/2014/main" id="{C2248013-DB9E-0813-255D-CBE69541941F}"/>
              </a:ext>
            </a:extLst>
          </p:cNvPr>
          <p:cNvPicPr>
            <a:picLocks noChangeAspect="1"/>
          </p:cNvPicPr>
          <p:nvPr/>
        </p:nvPicPr>
        <p:blipFill>
          <a:blip r:embed="rId2"/>
          <a:srcRect l="8446" r="32241" b="-3"/>
          <a:stretch>
            <a:fillRect/>
          </a:stretch>
        </p:blipFill>
        <p:spPr>
          <a:xfrm>
            <a:off x="7298531" y="1"/>
            <a:ext cx="4888388" cy="6858000"/>
          </a:xfrm>
          <a:prstGeom prst="rect">
            <a:avLst/>
          </a:prstGeom>
        </p:spPr>
      </p:pic>
    </p:spTree>
    <p:extLst>
      <p:ext uri="{BB962C8B-B14F-4D97-AF65-F5344CB8AC3E}">
        <p14:creationId xmlns:p14="http://schemas.microsoft.com/office/powerpoint/2010/main" val="1349775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BD7F53-8647-6231-8ECE-C44421E14CDD}"/>
              </a:ext>
            </a:extLst>
          </p:cNvPr>
          <p:cNvSpPr>
            <a:spLocks noGrp="1"/>
          </p:cNvSpPr>
          <p:nvPr>
            <p:ph type="title"/>
          </p:nvPr>
        </p:nvSpPr>
        <p:spPr>
          <a:xfrm>
            <a:off x="226019" y="762001"/>
            <a:ext cx="7393977" cy="1708242"/>
          </a:xfrm>
        </p:spPr>
        <p:txBody>
          <a:bodyPr anchor="ctr">
            <a:normAutofit/>
          </a:bodyPr>
          <a:lstStyle/>
          <a:p>
            <a:r>
              <a:rPr lang="en-US" sz="4000" b="1" dirty="0">
                <a:latin typeface="Times New Roman"/>
                <a:cs typeface="Times New Roman"/>
              </a:rPr>
              <a:t>PURPOSE OF THE PROJECT</a:t>
            </a:r>
            <a:endParaRPr lang="en-US" sz="4000" dirty="0">
              <a:latin typeface="Times New Roman"/>
              <a:cs typeface="Times New Roman"/>
            </a:endParaRPr>
          </a:p>
        </p:txBody>
      </p:sp>
      <p:sp>
        <p:nvSpPr>
          <p:cNvPr id="3" name="Content Placeholder 2">
            <a:extLst>
              <a:ext uri="{FF2B5EF4-FFF2-40B4-BE49-F238E27FC236}">
                <a16:creationId xmlns:a16="http://schemas.microsoft.com/office/drawing/2014/main" id="{85B25E45-BAAC-5C62-E2BD-4C5554FA76BC}"/>
              </a:ext>
            </a:extLst>
          </p:cNvPr>
          <p:cNvSpPr>
            <a:spLocks noGrp="1"/>
          </p:cNvSpPr>
          <p:nvPr>
            <p:ph idx="1"/>
          </p:nvPr>
        </p:nvSpPr>
        <p:spPr>
          <a:xfrm>
            <a:off x="226019" y="2470244"/>
            <a:ext cx="7382070" cy="3769835"/>
          </a:xfrm>
        </p:spPr>
        <p:txBody>
          <a:bodyPr vert="horz" lIns="91440" tIns="45720" rIns="91440" bIns="45720" rtlCol="0" anchor="ctr">
            <a:normAutofit/>
          </a:bodyPr>
          <a:lstStyle/>
          <a:p>
            <a:pPr algn="just"/>
            <a:r>
              <a:rPr lang="en-US" sz="1600" dirty="0">
                <a:latin typeface="Times New Roman"/>
                <a:ea typeface="+mn-lt"/>
                <a:cs typeface="+mn-lt"/>
              </a:rPr>
              <a:t>The primary purpose of this project is to empower farmers and agricultural stakeholders with an efficient, accurate, and accessible system for crop disease management and yield forecasting. Crop diseases are among the leading causes of global food loss, and timely detection is crucial for ensuring food security and farmer profitability.</a:t>
            </a:r>
            <a:endParaRPr lang="en-US"/>
          </a:p>
          <a:p>
            <a:pPr algn="just"/>
            <a:r>
              <a:rPr lang="en-US" sz="1600" dirty="0">
                <a:latin typeface="Times New Roman"/>
                <a:ea typeface="+mn-lt"/>
                <a:cs typeface="+mn-lt"/>
              </a:rPr>
              <a:t>This project aims to develop a technological framework that leverages Deep Learning algorithms to detect diseases in plant leaves automatically and Cloud Computing to make the system available to users worldwide without requiring high-end local infrastructure.</a:t>
            </a:r>
          </a:p>
          <a:p>
            <a:pPr algn="just"/>
            <a:r>
              <a:rPr lang="en-US" sz="1600" dirty="0">
                <a:latin typeface="Times New Roman"/>
                <a:ea typeface="+mn-lt"/>
                <a:cs typeface="+mn-lt"/>
              </a:rPr>
              <a:t>By enabling early disease detection, the system allows farmers to take preventive and corrective measures, reducing the spread of infections and improving overall productivity. The addition of yield prediction capabilities helps farmers make data-informed decisions on irrigation, fertilization, and market planning.</a:t>
            </a:r>
            <a:endParaRPr lang="en-US" sz="1600">
              <a:latin typeface="Times New Roman"/>
              <a:cs typeface="Times New Roman"/>
            </a:endParaRPr>
          </a:p>
        </p:txBody>
      </p:sp>
      <p:pic>
        <p:nvPicPr>
          <p:cNvPr id="5" name="Picture 4" descr="Plants in a field">
            <a:extLst>
              <a:ext uri="{FF2B5EF4-FFF2-40B4-BE49-F238E27FC236}">
                <a16:creationId xmlns:a16="http://schemas.microsoft.com/office/drawing/2014/main" id="{97DD8D3F-B252-DC6F-DBB9-AC112681AB8D}"/>
              </a:ext>
            </a:extLst>
          </p:cNvPr>
          <p:cNvPicPr>
            <a:picLocks noChangeAspect="1"/>
          </p:cNvPicPr>
          <p:nvPr/>
        </p:nvPicPr>
        <p:blipFill>
          <a:blip r:embed="rId2"/>
          <a:srcRect l="22590" r="25649" b="-3"/>
          <a:stretch>
            <a:fillRect/>
          </a:stretch>
        </p:blipFill>
        <p:spPr>
          <a:xfrm>
            <a:off x="7619796" y="1021"/>
            <a:ext cx="4572205" cy="6856979"/>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4275966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B5A1C1-6D8D-ED08-1D5A-C0A48F62BFC9}"/>
              </a:ext>
            </a:extLst>
          </p:cNvPr>
          <p:cNvSpPr>
            <a:spLocks noGrp="1"/>
          </p:cNvSpPr>
          <p:nvPr>
            <p:ph type="title"/>
          </p:nvPr>
        </p:nvSpPr>
        <p:spPr>
          <a:xfrm>
            <a:off x="202210" y="326384"/>
            <a:ext cx="7301996" cy="1624520"/>
          </a:xfrm>
        </p:spPr>
        <p:txBody>
          <a:bodyPr anchor="ctr">
            <a:normAutofit/>
          </a:bodyPr>
          <a:lstStyle/>
          <a:p>
            <a:r>
              <a:rPr lang="en-US" sz="4000" b="1" dirty="0">
                <a:latin typeface="Times New Roman"/>
                <a:cs typeface="Times New Roman"/>
              </a:rPr>
              <a:t>PURPOSE OF THE PROJECT</a:t>
            </a:r>
            <a:endParaRPr lang="en-US" sz="4000" dirty="0">
              <a:latin typeface="Times New Roman"/>
              <a:cs typeface="Times New Roman"/>
            </a:endParaRPr>
          </a:p>
        </p:txBody>
      </p:sp>
      <p:sp>
        <p:nvSpPr>
          <p:cNvPr id="3" name="Content Placeholder 2">
            <a:extLst>
              <a:ext uri="{FF2B5EF4-FFF2-40B4-BE49-F238E27FC236}">
                <a16:creationId xmlns:a16="http://schemas.microsoft.com/office/drawing/2014/main" id="{2F1C5115-5551-8108-72D2-C4BC118AEFD8}"/>
              </a:ext>
            </a:extLst>
          </p:cNvPr>
          <p:cNvSpPr>
            <a:spLocks noGrp="1"/>
          </p:cNvSpPr>
          <p:nvPr>
            <p:ph idx="1"/>
          </p:nvPr>
        </p:nvSpPr>
        <p:spPr>
          <a:xfrm>
            <a:off x="380803" y="2290763"/>
            <a:ext cx="6611435" cy="4065586"/>
          </a:xfrm>
        </p:spPr>
        <p:txBody>
          <a:bodyPr vert="horz" lIns="91440" tIns="45720" rIns="91440" bIns="45720" rtlCol="0" anchor="ctr">
            <a:normAutofit/>
          </a:bodyPr>
          <a:lstStyle/>
          <a:p>
            <a:pPr>
              <a:buFont typeface="Wingdings" panose="020B0604020202020204" pitchFamily="34" charset="0"/>
              <a:buChar char="Ø"/>
            </a:pPr>
            <a:r>
              <a:rPr lang="en-US" sz="1800" dirty="0">
                <a:latin typeface="Times New Roman"/>
                <a:ea typeface="+mn-lt"/>
                <a:cs typeface="+mn-lt"/>
              </a:rPr>
              <a:t>Another major purpose is to </a:t>
            </a:r>
            <a:r>
              <a:rPr lang="en-US" sz="1800" b="1" dirty="0">
                <a:latin typeface="Times New Roman"/>
                <a:ea typeface="+mn-lt"/>
                <a:cs typeface="+mn-lt"/>
              </a:rPr>
              <a:t>bridge the knowledge and accessibility gap</a:t>
            </a:r>
            <a:r>
              <a:rPr lang="en-US" sz="1800" dirty="0">
                <a:latin typeface="Times New Roman"/>
                <a:ea typeface="+mn-lt"/>
                <a:cs typeface="+mn-lt"/>
              </a:rPr>
              <a:t> between farmers in rural areas and agricultural experts. With a cloud-based platform, even those in remote locations can benefit from instant analysis without relying on expert availability.</a:t>
            </a:r>
            <a:endParaRPr lang="en-US" sz="1800" dirty="0">
              <a:latin typeface="Times New Roman"/>
              <a:cs typeface="Times New Roman"/>
            </a:endParaRPr>
          </a:p>
          <a:p>
            <a:pPr marL="0" indent="0">
              <a:buNone/>
            </a:pPr>
            <a:endParaRPr lang="en-US" sz="1800" dirty="0">
              <a:latin typeface="Times New Roman"/>
              <a:ea typeface="+mn-lt"/>
              <a:cs typeface="+mn-lt"/>
            </a:endParaRPr>
          </a:p>
          <a:p>
            <a:pPr marL="0" indent="0">
              <a:buNone/>
            </a:pPr>
            <a:r>
              <a:rPr lang="en-US" sz="1800" dirty="0">
                <a:latin typeface="Times New Roman"/>
                <a:ea typeface="+mn-lt"/>
                <a:cs typeface="+mn-lt"/>
              </a:rPr>
              <a:t>Ultimately, the project seeks to:</a:t>
            </a:r>
            <a:endParaRPr lang="en-US" sz="1800" dirty="0">
              <a:latin typeface="Times New Roman"/>
              <a:cs typeface="Times New Roman"/>
            </a:endParaRPr>
          </a:p>
          <a:p>
            <a:pPr>
              <a:buFont typeface="Wingdings" panose="020B0604020202020204" pitchFamily="34" charset="0"/>
              <a:buChar char="Ø"/>
            </a:pPr>
            <a:r>
              <a:rPr lang="en-US" sz="1800" dirty="0">
                <a:latin typeface="Times New Roman"/>
                <a:ea typeface="+mn-lt"/>
                <a:cs typeface="+mn-lt"/>
              </a:rPr>
              <a:t>Enhance </a:t>
            </a:r>
            <a:r>
              <a:rPr lang="en-US" sz="1800" b="1" dirty="0">
                <a:latin typeface="Times New Roman"/>
                <a:ea typeface="+mn-lt"/>
                <a:cs typeface="+mn-lt"/>
              </a:rPr>
              <a:t>agricultural productivity and sustainability</a:t>
            </a:r>
            <a:r>
              <a:rPr lang="en-US" sz="1800" dirty="0">
                <a:latin typeface="Times New Roman"/>
                <a:ea typeface="+mn-lt"/>
                <a:cs typeface="+mn-lt"/>
              </a:rPr>
              <a:t>,</a:t>
            </a:r>
            <a:endParaRPr lang="en-US" sz="1800" dirty="0">
              <a:latin typeface="Times New Roman"/>
              <a:cs typeface="Times New Roman"/>
            </a:endParaRPr>
          </a:p>
          <a:p>
            <a:pPr>
              <a:buFont typeface="Wingdings" panose="020B0604020202020204" pitchFamily="34" charset="0"/>
              <a:buChar char="Ø"/>
            </a:pPr>
            <a:r>
              <a:rPr lang="en-US" sz="1800" dirty="0">
                <a:latin typeface="Times New Roman"/>
                <a:ea typeface="+mn-lt"/>
                <a:cs typeface="+mn-lt"/>
              </a:rPr>
              <a:t>Reduce </a:t>
            </a:r>
            <a:r>
              <a:rPr lang="en-US" sz="1800" b="1" dirty="0">
                <a:latin typeface="Times New Roman"/>
                <a:ea typeface="+mn-lt"/>
                <a:cs typeface="+mn-lt"/>
              </a:rPr>
              <a:t>time and cost</a:t>
            </a:r>
            <a:r>
              <a:rPr lang="en-US" sz="1800" dirty="0">
                <a:latin typeface="Times New Roman"/>
                <a:ea typeface="+mn-lt"/>
                <a:cs typeface="+mn-lt"/>
              </a:rPr>
              <a:t> associated with manual crop inspection, and</a:t>
            </a:r>
            <a:endParaRPr lang="en-US" sz="1800" dirty="0">
              <a:latin typeface="Times New Roman"/>
              <a:cs typeface="Times New Roman"/>
            </a:endParaRPr>
          </a:p>
          <a:p>
            <a:pPr>
              <a:buFont typeface="Wingdings" panose="020B0604020202020204" pitchFamily="34" charset="0"/>
              <a:buChar char="Ø"/>
            </a:pPr>
            <a:r>
              <a:rPr lang="en-US" sz="1800" dirty="0">
                <a:latin typeface="Times New Roman"/>
                <a:ea typeface="+mn-lt"/>
                <a:cs typeface="+mn-lt"/>
              </a:rPr>
              <a:t>Support the vision of </a:t>
            </a:r>
            <a:r>
              <a:rPr lang="en-US" sz="1800" b="1" dirty="0">
                <a:latin typeface="Times New Roman"/>
                <a:ea typeface="+mn-lt"/>
                <a:cs typeface="+mn-lt"/>
              </a:rPr>
              <a:t>digital and precision agriculture</a:t>
            </a:r>
            <a:r>
              <a:rPr lang="en-US" sz="1800" dirty="0">
                <a:latin typeface="Times New Roman"/>
                <a:ea typeface="+mn-lt"/>
                <a:cs typeface="+mn-lt"/>
              </a:rPr>
              <a:t> through advanced AI integration.</a:t>
            </a:r>
            <a:endParaRPr lang="en-US" sz="1800" dirty="0">
              <a:latin typeface="Times New Roman"/>
              <a:cs typeface="Times New Roman"/>
            </a:endParaRPr>
          </a:p>
        </p:txBody>
      </p:sp>
      <p:pic>
        <p:nvPicPr>
          <p:cNvPr id="5" name="Picture 4" descr="Vegetables in a field">
            <a:extLst>
              <a:ext uri="{FF2B5EF4-FFF2-40B4-BE49-F238E27FC236}">
                <a16:creationId xmlns:a16="http://schemas.microsoft.com/office/drawing/2014/main" id="{423D382F-5751-7412-5E21-DE6B739D0E70}"/>
              </a:ext>
            </a:extLst>
          </p:cNvPr>
          <p:cNvPicPr>
            <a:picLocks noChangeAspect="1"/>
          </p:cNvPicPr>
          <p:nvPr/>
        </p:nvPicPr>
        <p:blipFill>
          <a:blip r:embed="rId2"/>
          <a:srcRect l="20436" r="20251" b="-3"/>
          <a:stretch>
            <a:fillRect/>
          </a:stretch>
        </p:blipFill>
        <p:spPr>
          <a:xfrm>
            <a:off x="7500937" y="1"/>
            <a:ext cx="4685982" cy="6858000"/>
          </a:xfrm>
          <a:prstGeom prst="rect">
            <a:avLst/>
          </a:prstGeom>
        </p:spPr>
      </p:pic>
    </p:spTree>
    <p:extLst>
      <p:ext uri="{BB962C8B-B14F-4D97-AF65-F5344CB8AC3E}">
        <p14:creationId xmlns:p14="http://schemas.microsoft.com/office/powerpoint/2010/main" val="1128872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2D6CA3-F787-20DE-44F8-C40CC5AC07A0}"/>
              </a:ext>
            </a:extLst>
          </p:cNvPr>
          <p:cNvSpPr>
            <a:spLocks noGrp="1"/>
          </p:cNvSpPr>
          <p:nvPr>
            <p:ph type="title"/>
          </p:nvPr>
        </p:nvSpPr>
        <p:spPr>
          <a:xfrm>
            <a:off x="761800" y="381001"/>
            <a:ext cx="7084415" cy="1148649"/>
          </a:xfrm>
        </p:spPr>
        <p:txBody>
          <a:bodyPr anchor="ctr">
            <a:normAutofit/>
          </a:bodyPr>
          <a:lstStyle/>
          <a:p>
            <a:r>
              <a:rPr lang="en-US" sz="4000" b="1">
                <a:latin typeface="Times New Roman"/>
                <a:cs typeface="Times New Roman"/>
              </a:rPr>
              <a:t>SCOPE OF THE PROJECT</a:t>
            </a:r>
            <a:endParaRPr lang="en-US" sz="4000">
              <a:latin typeface="Times New Roman"/>
              <a:cs typeface="Times New Roman"/>
            </a:endParaRPr>
          </a:p>
        </p:txBody>
      </p:sp>
      <p:sp>
        <p:nvSpPr>
          <p:cNvPr id="3" name="Content Placeholder 2">
            <a:extLst>
              <a:ext uri="{FF2B5EF4-FFF2-40B4-BE49-F238E27FC236}">
                <a16:creationId xmlns:a16="http://schemas.microsoft.com/office/drawing/2014/main" id="{9D25DED8-2FA8-1105-ED98-0F2B5EA55CAF}"/>
              </a:ext>
            </a:extLst>
          </p:cNvPr>
          <p:cNvSpPr>
            <a:spLocks noGrp="1"/>
          </p:cNvSpPr>
          <p:nvPr>
            <p:ph idx="1"/>
          </p:nvPr>
        </p:nvSpPr>
        <p:spPr>
          <a:xfrm>
            <a:off x="202207" y="1720150"/>
            <a:ext cx="7644008" cy="3769835"/>
          </a:xfrm>
        </p:spPr>
        <p:txBody>
          <a:bodyPr vert="horz" lIns="91440" tIns="45720" rIns="91440" bIns="45720" rtlCol="0" anchor="ctr">
            <a:normAutofit/>
          </a:bodyPr>
          <a:lstStyle/>
          <a:p>
            <a:r>
              <a:rPr lang="en-US" sz="1800" dirty="0">
                <a:latin typeface="Times New Roman"/>
                <a:ea typeface="+mn-lt"/>
                <a:cs typeface="+mn-lt"/>
              </a:rPr>
              <a:t>The scope of this project extends across multiple domains of smart agriculture, AI-driven decision-making, and cloud-based deployment. It is designed to serve as a comprehensive platform that caters to the needs of farmers, agricultural researchers, and policy planners.</a:t>
            </a:r>
          </a:p>
          <a:p>
            <a:r>
              <a:rPr lang="en-US" sz="1800" dirty="0">
                <a:latin typeface="Times New Roman"/>
                <a:ea typeface="+mn-lt"/>
                <a:cs typeface="+mn-lt"/>
              </a:rPr>
              <a:t>The system can be applied to a wide range of crops and disease categories, provided sufficient image data is available for model training. Through Deep Learning algorithms such as CNNs, it can identify specific disease patterns from leaf images and classify them into categories like bacterial, viral, or fungal infections.</a:t>
            </a:r>
          </a:p>
          <a:p>
            <a:r>
              <a:rPr lang="en-US" sz="1800" dirty="0">
                <a:latin typeface="Times New Roman"/>
                <a:ea typeface="+mn-lt"/>
                <a:cs typeface="+mn-lt"/>
              </a:rPr>
              <a:t>The cloud infrastructure expands the project’s reach by offering global accessibility, data security, and continuous scalability. Users can upload images from anywhere and receive predictions within seconds, eliminating the need for high computational devices on-site.</a:t>
            </a:r>
            <a:endParaRPr lang="en-US" sz="1800" dirty="0">
              <a:latin typeface="Times New Roman"/>
              <a:cs typeface="Times New Roman"/>
            </a:endParaRPr>
          </a:p>
        </p:txBody>
      </p:sp>
      <p:pic>
        <p:nvPicPr>
          <p:cNvPr id="5" name="Picture 4" descr="Tractor in farmland">
            <a:extLst>
              <a:ext uri="{FF2B5EF4-FFF2-40B4-BE49-F238E27FC236}">
                <a16:creationId xmlns:a16="http://schemas.microsoft.com/office/drawing/2014/main" id="{DAE71A93-9893-25EE-0A7E-3689A8C59810}"/>
              </a:ext>
            </a:extLst>
          </p:cNvPr>
          <p:cNvPicPr>
            <a:picLocks noChangeAspect="1"/>
          </p:cNvPicPr>
          <p:nvPr/>
        </p:nvPicPr>
        <p:blipFill>
          <a:blip r:embed="rId2"/>
          <a:srcRect l="42263" r="6017" b="76"/>
          <a:stretch>
            <a:fillRect/>
          </a:stretch>
        </p:blipFill>
        <p:spPr>
          <a:xfrm>
            <a:off x="7846015" y="1020"/>
            <a:ext cx="4345986" cy="6856980"/>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480415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BFC3AD-6895-D6C1-45D0-65641B01BF0D}"/>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FB2D0F29-0D3F-26FC-9BC2-49E5FD498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FD2DC5-1CE9-1C5A-BD91-B490A02A4882}"/>
              </a:ext>
            </a:extLst>
          </p:cNvPr>
          <p:cNvSpPr>
            <a:spLocks noGrp="1"/>
          </p:cNvSpPr>
          <p:nvPr>
            <p:ph type="title"/>
          </p:nvPr>
        </p:nvSpPr>
        <p:spPr>
          <a:xfrm>
            <a:off x="761800" y="381001"/>
            <a:ext cx="7084415" cy="1148649"/>
          </a:xfrm>
        </p:spPr>
        <p:txBody>
          <a:bodyPr anchor="ctr">
            <a:normAutofit/>
          </a:bodyPr>
          <a:lstStyle/>
          <a:p>
            <a:r>
              <a:rPr lang="en-US" sz="4000" b="1">
                <a:latin typeface="Times New Roman"/>
                <a:cs typeface="Times New Roman"/>
              </a:rPr>
              <a:t>SCOPE OF THE PROJECT</a:t>
            </a:r>
            <a:endParaRPr lang="en-US" sz="4000">
              <a:latin typeface="Times New Roman"/>
              <a:cs typeface="Times New Roman"/>
            </a:endParaRPr>
          </a:p>
        </p:txBody>
      </p:sp>
      <p:sp>
        <p:nvSpPr>
          <p:cNvPr id="3" name="Content Placeholder 2">
            <a:extLst>
              <a:ext uri="{FF2B5EF4-FFF2-40B4-BE49-F238E27FC236}">
                <a16:creationId xmlns:a16="http://schemas.microsoft.com/office/drawing/2014/main" id="{09AA6B4F-83DD-10F7-49C5-7A6B1E39672C}"/>
              </a:ext>
            </a:extLst>
          </p:cNvPr>
          <p:cNvSpPr>
            <a:spLocks noGrp="1"/>
          </p:cNvSpPr>
          <p:nvPr>
            <p:ph idx="1"/>
          </p:nvPr>
        </p:nvSpPr>
        <p:spPr>
          <a:xfrm>
            <a:off x="761800" y="1720150"/>
            <a:ext cx="6822478" cy="3769835"/>
          </a:xfrm>
        </p:spPr>
        <p:txBody>
          <a:bodyPr vert="horz" lIns="91440" tIns="45720" rIns="91440" bIns="45720" rtlCol="0" anchor="ctr">
            <a:normAutofit/>
          </a:bodyPr>
          <a:lstStyle/>
          <a:p>
            <a:pPr>
              <a:buNone/>
            </a:pPr>
            <a:r>
              <a:rPr lang="en-US" sz="1800" dirty="0">
                <a:ea typeface="+mn-lt"/>
                <a:cs typeface="+mn-lt"/>
              </a:rPr>
              <a:t>The system can be further expanded to include:</a:t>
            </a:r>
            <a:endParaRPr lang="en-US" dirty="0"/>
          </a:p>
          <a:p>
            <a:pPr>
              <a:buFont typeface="Arial"/>
              <a:buChar char="•"/>
            </a:pPr>
            <a:r>
              <a:rPr lang="en-US" sz="1800" b="1" dirty="0">
                <a:ea typeface="+mn-lt"/>
                <a:cs typeface="+mn-lt"/>
              </a:rPr>
              <a:t>Climate-based yield estimation</a:t>
            </a:r>
            <a:r>
              <a:rPr lang="en-US" sz="1800" dirty="0">
                <a:ea typeface="+mn-lt"/>
                <a:cs typeface="+mn-lt"/>
              </a:rPr>
              <a:t> using real-time weather data,</a:t>
            </a:r>
            <a:endParaRPr lang="en-US" dirty="0"/>
          </a:p>
          <a:p>
            <a:pPr>
              <a:buFont typeface="Arial"/>
              <a:buChar char="•"/>
            </a:pPr>
            <a:r>
              <a:rPr lang="en-US" sz="1800" b="1" dirty="0">
                <a:ea typeface="+mn-lt"/>
                <a:cs typeface="+mn-lt"/>
              </a:rPr>
              <a:t>IoT sensor integration</a:t>
            </a:r>
            <a:r>
              <a:rPr lang="en-US" sz="1800" dirty="0">
                <a:ea typeface="+mn-lt"/>
                <a:cs typeface="+mn-lt"/>
              </a:rPr>
              <a:t> for collecting environmental factors like humidity, soil moisture, and temperature,</a:t>
            </a:r>
            <a:endParaRPr lang="en-US" dirty="0"/>
          </a:p>
          <a:p>
            <a:pPr>
              <a:buFont typeface="Arial"/>
              <a:buChar char="•"/>
            </a:pPr>
            <a:r>
              <a:rPr lang="en-US" sz="1800" b="1" dirty="0">
                <a:ea typeface="+mn-lt"/>
                <a:cs typeface="+mn-lt"/>
              </a:rPr>
              <a:t>Data visualization dashboards</a:t>
            </a:r>
            <a:r>
              <a:rPr lang="en-US" sz="1800" dirty="0">
                <a:ea typeface="+mn-lt"/>
                <a:cs typeface="+mn-lt"/>
              </a:rPr>
              <a:t> for monitoring crop health trends over time, and</a:t>
            </a:r>
            <a:endParaRPr lang="en-US" dirty="0"/>
          </a:p>
          <a:p>
            <a:pPr>
              <a:buFont typeface="Arial"/>
              <a:buChar char="•"/>
            </a:pPr>
            <a:r>
              <a:rPr lang="en-US" sz="1800" b="1" dirty="0">
                <a:ea typeface="+mn-lt"/>
                <a:cs typeface="+mn-lt"/>
              </a:rPr>
              <a:t>Decision support modules</a:t>
            </a:r>
            <a:r>
              <a:rPr lang="en-US" sz="1800" dirty="0">
                <a:ea typeface="+mn-lt"/>
                <a:cs typeface="+mn-lt"/>
              </a:rPr>
              <a:t> for recommending fertilizers, pesticides, or irrigation levels.</a:t>
            </a:r>
            <a:endParaRPr lang="en-US" dirty="0"/>
          </a:p>
          <a:p>
            <a:pPr marL="0" indent="0">
              <a:buNone/>
            </a:pPr>
            <a:endParaRPr lang="en-US" sz="1800" dirty="0">
              <a:latin typeface="Times New Roman"/>
              <a:cs typeface="Times New Roman"/>
            </a:endParaRPr>
          </a:p>
        </p:txBody>
      </p:sp>
      <p:pic>
        <p:nvPicPr>
          <p:cNvPr id="5" name="Picture 4" descr="Tractor in farmland">
            <a:extLst>
              <a:ext uri="{FF2B5EF4-FFF2-40B4-BE49-F238E27FC236}">
                <a16:creationId xmlns:a16="http://schemas.microsoft.com/office/drawing/2014/main" id="{0B578BA7-1B5D-A863-31B4-65CAD5CACBC1}"/>
              </a:ext>
            </a:extLst>
          </p:cNvPr>
          <p:cNvPicPr>
            <a:picLocks noChangeAspect="1"/>
          </p:cNvPicPr>
          <p:nvPr/>
        </p:nvPicPr>
        <p:blipFill>
          <a:blip r:embed="rId2"/>
          <a:srcRect l="42263" r="6017" b="76"/>
          <a:stretch>
            <a:fillRect/>
          </a:stretch>
        </p:blipFill>
        <p:spPr>
          <a:xfrm>
            <a:off x="7846015" y="1020"/>
            <a:ext cx="4345986" cy="6856980"/>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4182674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040E18A-F455-DAD9-52D7-B043BF23B25F}"/>
              </a:ext>
            </a:extLst>
          </p:cNvPr>
          <p:cNvSpPr txBox="1"/>
          <p:nvPr/>
        </p:nvSpPr>
        <p:spPr>
          <a:xfrm>
            <a:off x="1091989" y="2881419"/>
            <a:ext cx="5801917" cy="1080733"/>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gn="ctr">
              <a:lnSpc>
                <a:spcPct val="90000"/>
              </a:lnSpc>
              <a:spcAft>
                <a:spcPts val="600"/>
              </a:spcAft>
            </a:pPr>
            <a:r>
              <a:rPr lang="en-US" sz="4800" b="1" dirty="0">
                <a:latin typeface="Times New Roman"/>
                <a:cs typeface="Times New Roman"/>
              </a:rPr>
              <a:t>Thank You</a:t>
            </a:r>
          </a:p>
        </p:txBody>
      </p:sp>
      <p:pic>
        <p:nvPicPr>
          <p:cNvPr id="8" name="Graphic 7" descr="Smiling Face with No Fill">
            <a:extLst>
              <a:ext uri="{FF2B5EF4-FFF2-40B4-BE49-F238E27FC236}">
                <a16:creationId xmlns:a16="http://schemas.microsoft.com/office/drawing/2014/main" id="{E85D7947-0745-45C2-8EF1-E78D4F75A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267931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Cloud-Based Crop Disease Detection and Yield Prediction Using Deep Learning</vt:lpstr>
      <vt:lpstr>INTRODUCTION</vt:lpstr>
      <vt:lpstr>MOTIVATION</vt:lpstr>
      <vt:lpstr>Understanding the Present System and its Challenges</vt:lpstr>
      <vt:lpstr>INNOVATION OF THE PROJECT</vt:lpstr>
      <vt:lpstr>PURPOSE OF THE PROJECT</vt:lpstr>
      <vt:lpstr>PURPOSE OF THE PROJECT</vt:lpstr>
      <vt:lpstr>SCOPE OF THE PROJECT</vt:lpstr>
      <vt:lpstr>SCOPE OF THE PROJECT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268</cp:revision>
  <dcterms:created xsi:type="dcterms:W3CDTF">2025-11-09T09:54:39Z</dcterms:created>
  <dcterms:modified xsi:type="dcterms:W3CDTF">2025-11-09T11:38:40Z</dcterms:modified>
</cp:coreProperties>
</file>